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65" r:id="rId1"/>
  </p:sldMasterIdLst>
  <p:sldIdLst>
    <p:sldId id="256" r:id="rId2"/>
    <p:sldId id="261" r:id="rId3"/>
    <p:sldId id="262" r:id="rId4"/>
    <p:sldId id="263" r:id="rId5"/>
    <p:sldId id="257" r:id="rId6"/>
    <p:sldId id="258" r:id="rId7"/>
    <p:sldId id="259" r:id="rId8"/>
    <p:sldId id="264" r:id="rId9"/>
    <p:sldId id="260" r:id="rId10"/>
    <p:sldId id="265" r:id="rId11"/>
    <p:sldId id="266"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732" autoAdjust="0"/>
    <p:restoredTop sz="94660"/>
  </p:normalViewPr>
  <p:slideViewPr>
    <p:cSldViewPr snapToGrid="0">
      <p:cViewPr varScale="1">
        <p:scale>
          <a:sx n="75" d="100"/>
          <a:sy n="75" d="100"/>
        </p:scale>
        <p:origin x="67" y="2299"/>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942416" y="2514601"/>
            <a:ext cx="6600451" cy="2262781"/>
          </a:xfrm>
        </p:spPr>
        <p:txBody>
          <a:bodyPr anchor="b">
            <a:normAutofit/>
          </a:bodyPr>
          <a:lstStyle>
            <a:lvl1pPr>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1942416" y="4777380"/>
            <a:ext cx="6600451"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11/21/2022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8"/>
          <p:cNvSpPr/>
          <p:nvPr/>
        </p:nvSpPr>
        <p:spPr bwMode="auto">
          <a:xfrm>
            <a:off x="-31719" y="4321158"/>
            <a:ext cx="1395473" cy="781781"/>
          </a:xfrm>
          <a:custGeom>
            <a:avLst/>
            <a:gdLst/>
            <a:ahLst/>
            <a:cxnLst/>
            <a:rect l="l" t="t" r="r" b="b"/>
            <a:pathLst>
              <a:path w="8042" h="10000">
                <a:moveTo>
                  <a:pt x="5799" y="10000"/>
                </a:moveTo>
                <a:cubicBezTo>
                  <a:pt x="5880" y="10000"/>
                  <a:pt x="5934" y="9940"/>
                  <a:pt x="5961" y="9880"/>
                </a:cubicBezTo>
                <a:cubicBezTo>
                  <a:pt x="5961" y="9820"/>
                  <a:pt x="5988" y="9820"/>
                  <a:pt x="5988" y="9820"/>
                </a:cubicBezTo>
                <a:lnTo>
                  <a:pt x="8042" y="5260"/>
                </a:lnTo>
                <a:cubicBezTo>
                  <a:pt x="8096" y="5140"/>
                  <a:pt x="8096" y="4901"/>
                  <a:pt x="8042" y="4721"/>
                </a:cubicBezTo>
                <a:lnTo>
                  <a:pt x="5988" y="221"/>
                </a:lnTo>
                <a:cubicBezTo>
                  <a:pt x="5988" y="160"/>
                  <a:pt x="5961" y="160"/>
                  <a:pt x="5961" y="160"/>
                </a:cubicBezTo>
                <a:cubicBezTo>
                  <a:pt x="5934" y="101"/>
                  <a:pt x="5880" y="41"/>
                  <a:pt x="5799" y="41"/>
                </a:cubicBezTo>
                <a:lnTo>
                  <a:pt x="18" y="0"/>
                </a:lnTo>
                <a:cubicBezTo>
                  <a:pt x="12" y="3330"/>
                  <a:pt x="6" y="6661"/>
                  <a:pt x="0" y="9991"/>
                </a:cubicBezTo>
                <a:lnTo>
                  <a:pt x="5799" y="10000"/>
                </a:lnTo>
                <a:close/>
              </a:path>
            </a:pathLst>
          </a:custGeom>
          <a:solidFill>
            <a:schemeClr val="accent1"/>
          </a:solidFill>
          <a:ln>
            <a:noFill/>
          </a:ln>
        </p:spPr>
      </p:sp>
      <p:sp>
        <p:nvSpPr>
          <p:cNvPr id="6" name="Slide Number Placeholder 5"/>
          <p:cNvSpPr>
            <a:spLocks noGrp="1"/>
          </p:cNvSpPr>
          <p:nvPr>
            <p:ph type="sldNum" sz="quarter" idx="12"/>
          </p:nvPr>
        </p:nvSpPr>
        <p:spPr>
          <a:xfrm>
            <a:off x="423334" y="4529541"/>
            <a:ext cx="584978"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572707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945201" y="624110"/>
            <a:ext cx="6589199" cy="128089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1942415" y="2133600"/>
            <a:ext cx="6591985" cy="377762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11/21/2022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5657723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942415" y="2074562"/>
            <a:ext cx="6591985" cy="146880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942415" y="3581400"/>
            <a:ext cx="6591985"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11/21/2022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1020561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942416" y="2136706"/>
            <a:ext cx="3197531" cy="376739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337307" y="2136706"/>
            <a:ext cx="3197093" cy="376739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11/21/2022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10" name="Slide Number Placeholder 5"/>
          <p:cNvSpPr>
            <a:spLocks noGrp="1"/>
          </p:cNvSpPr>
          <p:nvPr>
            <p:ph type="sldNum" sz="quarter" idx="12"/>
          </p:nvPr>
        </p:nvSpPr>
        <p:spPr>
          <a:xfrm>
            <a:off x="511228" y="787783"/>
            <a:ext cx="584978"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337846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2265352" y="2226626"/>
            <a:ext cx="2874596"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942415" y="2802888"/>
            <a:ext cx="3197532" cy="3105703"/>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656154" y="2223398"/>
            <a:ext cx="2873239"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5333715" y="2799660"/>
            <a:ext cx="3195680" cy="3105703"/>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11/21/2022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1"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12" name="Slide Number Placeholder 5"/>
          <p:cNvSpPr>
            <a:spLocks noGrp="1"/>
          </p:cNvSpPr>
          <p:nvPr>
            <p:ph type="sldNum" sz="quarter" idx="12"/>
          </p:nvPr>
        </p:nvSpPr>
        <p:spPr>
          <a:xfrm>
            <a:off x="511228" y="787783"/>
            <a:ext cx="584978"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5596779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945200" y="624110"/>
            <a:ext cx="6589200" cy="128089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11/21/2022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8"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4213985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11/21/2022</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4808952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2415" y="446088"/>
            <a:ext cx="2629584" cy="976312"/>
          </a:xfrm>
        </p:spPr>
        <p:txBody>
          <a:bodyPr anchor="b"/>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4743494" y="446089"/>
            <a:ext cx="3790906" cy="5414963"/>
          </a:xfrm>
        </p:spPr>
        <p:txBody>
          <a:bodyPr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942415" y="1598613"/>
            <a:ext cx="2629584"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11/21/2022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954305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2415" y="4800600"/>
            <a:ext cx="6591985"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942415" y="634965"/>
            <a:ext cx="6591985"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942415" y="5367338"/>
            <a:ext cx="6591985"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11/21/2022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145179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942415" y="609600"/>
            <a:ext cx="6591985" cy="3117040"/>
          </a:xfrm>
        </p:spPr>
        <p:txBody>
          <a:bodyPr anchor="ctr">
            <a:normAutofit/>
          </a:bodyPr>
          <a:lstStyle>
            <a:lvl1pPr algn="l">
              <a:defRPr sz="48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942415" y="4354046"/>
            <a:ext cx="6591985"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11/21/2022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0"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1624990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88123" y="609600"/>
            <a:ext cx="6109587" cy="2895600"/>
          </a:xfrm>
        </p:spPr>
        <p:txBody>
          <a:bodyPr anchor="ctr">
            <a:normAutofit/>
          </a:bodyPr>
          <a:lstStyle>
            <a:lvl1pPr algn="l">
              <a:defRPr sz="4800" b="0" cap="none"/>
            </a:lvl1pPr>
          </a:lstStyle>
          <a:p>
            <a:r>
              <a:rPr lang="en-US" smtClean="0"/>
              <a:t>Click to edit Master title style</a:t>
            </a:r>
            <a:endParaRPr lang="en-US" dirty="0"/>
          </a:p>
        </p:txBody>
      </p:sp>
      <p:sp>
        <p:nvSpPr>
          <p:cNvPr id="13" name="Text Placeholder 9"/>
          <p:cNvSpPr>
            <a:spLocks noGrp="1"/>
          </p:cNvSpPr>
          <p:nvPr>
            <p:ph type="body" sz="quarter" idx="13"/>
          </p:nvPr>
        </p:nvSpPr>
        <p:spPr>
          <a:xfrm>
            <a:off x="2415972" y="3505200"/>
            <a:ext cx="5653888"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1942415" y="4354046"/>
            <a:ext cx="6591985"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11/21/2022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9"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p>
            <a:fld id="{D57F1E4F-1CFF-5643-939E-217C01CDF565}" type="slidenum">
              <a:rPr lang="en-US" smtClean="0"/>
              <a:pPr/>
              <a:t>‹#›</a:t>
            </a:fld>
            <a:endParaRPr lang="en-US" dirty="0"/>
          </a:p>
        </p:txBody>
      </p:sp>
      <p:sp>
        <p:nvSpPr>
          <p:cNvPr id="14" name="TextBox 13"/>
          <p:cNvSpPr txBox="1"/>
          <p:nvPr/>
        </p:nvSpPr>
        <p:spPr>
          <a:xfrm>
            <a:off x="1808316" y="648005"/>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8169533" y="290530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2997391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942415" y="2438401"/>
            <a:ext cx="6591985" cy="2724845"/>
          </a:xfrm>
        </p:spPr>
        <p:txBody>
          <a:bodyPr anchor="b">
            <a:normAutofit/>
          </a:bodyPr>
          <a:lstStyle>
            <a:lvl1pPr algn="l">
              <a:defRPr sz="4800" b="0"/>
            </a:lvl1pPr>
          </a:lstStyle>
          <a:p>
            <a:r>
              <a:rPr lang="en-US" smtClean="0"/>
              <a:t>Click to edit Master title style</a:t>
            </a:r>
            <a:endParaRPr lang="en-US" dirty="0"/>
          </a:p>
        </p:txBody>
      </p:sp>
      <p:sp>
        <p:nvSpPr>
          <p:cNvPr id="4" name="Text Placeholder 3"/>
          <p:cNvSpPr>
            <a:spLocks noGrp="1"/>
          </p:cNvSpPr>
          <p:nvPr>
            <p:ph type="body" sz="half" idx="2"/>
          </p:nvPr>
        </p:nvSpPr>
        <p:spPr>
          <a:xfrm>
            <a:off x="1942415" y="5181600"/>
            <a:ext cx="6591985"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11/21/2022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89538636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3" name="Title 1"/>
          <p:cNvSpPr>
            <a:spLocks noGrp="1"/>
          </p:cNvSpPr>
          <p:nvPr>
            <p:ph type="title"/>
          </p:nvPr>
        </p:nvSpPr>
        <p:spPr>
          <a:xfrm>
            <a:off x="2188123" y="609600"/>
            <a:ext cx="6109587" cy="2895600"/>
          </a:xfrm>
        </p:spPr>
        <p:txBody>
          <a:bodyPr anchor="ctr">
            <a:normAutofit/>
          </a:bodyPr>
          <a:lstStyle>
            <a:lvl1pPr algn="l">
              <a:defRPr sz="4800" b="0" cap="none"/>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1942415" y="4343400"/>
            <a:ext cx="6688292"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4" name="Text Placeholder 3"/>
          <p:cNvSpPr>
            <a:spLocks noGrp="1"/>
          </p:cNvSpPr>
          <p:nvPr>
            <p:ph type="body" sz="half" idx="2"/>
          </p:nvPr>
        </p:nvSpPr>
        <p:spPr>
          <a:xfrm>
            <a:off x="1942415" y="5181600"/>
            <a:ext cx="6688292"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11/21/2022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2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D57F1E4F-1CFF-5643-939E-217C01CDF565}" type="slidenum">
              <a:rPr lang="en-US" smtClean="0"/>
              <a:pPr/>
              <a:t>‹#›</a:t>
            </a:fld>
            <a:endParaRPr lang="en-US" dirty="0"/>
          </a:p>
        </p:txBody>
      </p:sp>
      <p:sp>
        <p:nvSpPr>
          <p:cNvPr id="11" name="TextBox 10"/>
          <p:cNvSpPr txBox="1"/>
          <p:nvPr/>
        </p:nvSpPr>
        <p:spPr>
          <a:xfrm>
            <a:off x="1808316" y="648005"/>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2" name="TextBox 11"/>
          <p:cNvSpPr txBox="1"/>
          <p:nvPr/>
        </p:nvSpPr>
        <p:spPr>
          <a:xfrm>
            <a:off x="8169533" y="290530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272394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942416" y="627407"/>
            <a:ext cx="6591984" cy="2880020"/>
          </a:xfrm>
        </p:spPr>
        <p:txBody>
          <a:bodyPr anchor="ctr">
            <a:normAutofit/>
          </a:bodyPr>
          <a:lstStyle>
            <a:lvl1pPr algn="l">
              <a:defRPr sz="4800" b="0"/>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1942415" y="4343400"/>
            <a:ext cx="6591985"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4" name="Text Placeholder 3"/>
          <p:cNvSpPr>
            <a:spLocks noGrp="1"/>
          </p:cNvSpPr>
          <p:nvPr>
            <p:ph type="body" sz="half" idx="2"/>
          </p:nvPr>
        </p:nvSpPr>
        <p:spPr>
          <a:xfrm>
            <a:off x="1942415" y="5181600"/>
            <a:ext cx="6591985"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11/21/2022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8041248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11/21/2022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6536601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78535" y="627406"/>
            <a:ext cx="1656132" cy="5283817"/>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942416" y="627406"/>
            <a:ext cx="4716348" cy="5283817"/>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11/21/2022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9496495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36" name="Group 35"/>
          <p:cNvGrpSpPr/>
          <p:nvPr/>
        </p:nvGrpSpPr>
        <p:grpSpPr>
          <a:xfrm>
            <a:off x="1" y="228600"/>
            <a:ext cx="1981200" cy="6638628"/>
            <a:chOff x="2487613" y="285750"/>
            <a:chExt cx="2428875" cy="5654676"/>
          </a:xfrm>
        </p:grpSpPr>
        <p:sp>
          <p:nvSpPr>
            <p:cNvPr id="37"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38"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39"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40"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41"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42"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43"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44"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45"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46"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47"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48"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49" name="Group 48"/>
          <p:cNvGrpSpPr/>
          <p:nvPr/>
        </p:nvGrpSpPr>
        <p:grpSpPr>
          <a:xfrm>
            <a:off x="20421" y="285"/>
            <a:ext cx="1952272" cy="6852968"/>
            <a:chOff x="6627813" y="195717"/>
            <a:chExt cx="1952625" cy="5678034"/>
          </a:xfrm>
        </p:grpSpPr>
        <p:sp>
          <p:nvSpPr>
            <p:cNvPr id="50" name="Freeform 27"/>
            <p:cNvSpPr/>
            <p:nvPr/>
          </p:nvSpPr>
          <p:spPr bwMode="auto">
            <a:xfrm>
              <a:off x="6627813" y="195717"/>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51"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52"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53"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54"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55"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56"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57"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58"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59"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60"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61"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62" name="Rectangle 61"/>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1945200" y="624110"/>
            <a:ext cx="6589200" cy="128089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942415" y="2133600"/>
            <a:ext cx="6591985" cy="3886200"/>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772400" y="6135089"/>
            <a:ext cx="766380" cy="370171"/>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11/21/2022</a:t>
            </a:fld>
            <a:endParaRPr lang="en-US" dirty="0"/>
          </a:p>
        </p:txBody>
      </p:sp>
      <p:sp>
        <p:nvSpPr>
          <p:cNvPr id="5" name="Footer Placeholder 4"/>
          <p:cNvSpPr>
            <a:spLocks noGrp="1"/>
          </p:cNvSpPr>
          <p:nvPr>
            <p:ph type="ftr" sz="quarter" idx="3"/>
          </p:nvPr>
        </p:nvSpPr>
        <p:spPr>
          <a:xfrm>
            <a:off x="1942415" y="6135809"/>
            <a:ext cx="5716488"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11228" y="787783"/>
            <a:ext cx="584978"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410195248"/>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 id="2147483675" r:id="rId10"/>
    <p:sldLayoutId id="2147483676" r:id="rId11"/>
    <p:sldLayoutId id="2147483677" r:id="rId12"/>
    <p:sldLayoutId id="2147483678" r:id="rId13"/>
    <p:sldLayoutId id="2147483679" r:id="rId14"/>
    <p:sldLayoutId id="2147483680" r:id="rId15"/>
    <p:sldLayoutId id="2147483681"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9.png"/><Relationship Id="rId7" Type="http://schemas.openxmlformats.org/officeDocument/2006/relationships/image" Target="../media/image10.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13.emf"/><Relationship Id="rId1" Type="http://schemas.openxmlformats.org/officeDocument/2006/relationships/slideLayout" Target="../slideLayouts/slideLayout7.xml"/><Relationship Id="rId5" Type="http://schemas.openxmlformats.org/officeDocument/2006/relationships/image" Target="../media/image16.png"/><Relationship Id="rId4" Type="http://schemas.openxmlformats.org/officeDocument/2006/relationships/image" Target="../media/image15.emf"/></Relationships>
</file>

<file path=ppt/slides/_rels/slide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56260" y="1203961"/>
            <a:ext cx="8397239" cy="2262781"/>
          </a:xfrm>
        </p:spPr>
        <p:txBody>
          <a:bodyPr>
            <a:normAutofit/>
          </a:bodyPr>
          <a:lstStyle/>
          <a:p>
            <a:pPr algn="ctr"/>
            <a:r>
              <a:rPr lang="en-US" sz="3600" b="1" dirty="0"/>
              <a:t>Some fundamental </a:t>
            </a:r>
            <a:r>
              <a:rPr lang="en-US" sz="3600" b="1" dirty="0" smtClean="0"/>
              <a:t>economic forces </a:t>
            </a:r>
            <a:br>
              <a:rPr lang="en-US" sz="3600" b="1" dirty="0" smtClean="0"/>
            </a:br>
            <a:r>
              <a:rPr lang="en-US" sz="3600" b="1" dirty="0" smtClean="0"/>
              <a:t>in </a:t>
            </a:r>
            <a:r>
              <a:rPr lang="en-US" sz="3600" b="1" dirty="0"/>
              <a:t>marketing</a:t>
            </a:r>
          </a:p>
        </p:txBody>
      </p:sp>
      <p:sp>
        <p:nvSpPr>
          <p:cNvPr id="3" name="Subtitle 2"/>
          <p:cNvSpPr>
            <a:spLocks noGrp="1"/>
          </p:cNvSpPr>
          <p:nvPr>
            <p:ph type="subTitle" idx="1"/>
          </p:nvPr>
        </p:nvSpPr>
        <p:spPr>
          <a:xfrm>
            <a:off x="1440181" y="3885840"/>
            <a:ext cx="7406638" cy="2027280"/>
          </a:xfrm>
        </p:spPr>
        <p:txBody>
          <a:bodyPr>
            <a:normAutofit fontScale="92500"/>
          </a:bodyPr>
          <a:lstStyle/>
          <a:p>
            <a:pPr marL="285750" indent="-285750">
              <a:buFont typeface="Arial" panose="020B0604020202020204" pitchFamily="34" charset="0"/>
              <a:buChar char="•"/>
            </a:pPr>
            <a:r>
              <a:rPr lang="en-US" sz="2400" dirty="0" smtClean="0"/>
              <a:t>A profit function of profit margin and sales volume</a:t>
            </a:r>
          </a:p>
          <a:p>
            <a:pPr marL="285750" indent="-285750">
              <a:buFont typeface="Arial" panose="020B0604020202020204" pitchFamily="34" charset="0"/>
              <a:buChar char="•"/>
            </a:pPr>
            <a:r>
              <a:rPr lang="en-US" sz="2400" dirty="0" smtClean="0"/>
              <a:t>Long tail</a:t>
            </a:r>
          </a:p>
          <a:p>
            <a:pPr marL="285750" indent="-285750">
              <a:buFont typeface="Arial" panose="020B0604020202020204" pitchFamily="34" charset="0"/>
              <a:buChar char="•"/>
            </a:pPr>
            <a:r>
              <a:rPr lang="en-US" altLang="en-US" sz="2400" dirty="0" smtClean="0"/>
              <a:t>Bad money drives out good</a:t>
            </a:r>
          </a:p>
          <a:p>
            <a:pPr marL="285750" indent="-285750">
              <a:buFont typeface="Arial" panose="020B0604020202020204" pitchFamily="34" charset="0"/>
              <a:buChar char="•"/>
            </a:pPr>
            <a:r>
              <a:rPr lang="en-US" altLang="en-US" sz="2400" dirty="0" smtClean="0"/>
              <a:t>Externality and network effects</a:t>
            </a:r>
          </a:p>
        </p:txBody>
      </p:sp>
    </p:spTree>
    <p:extLst>
      <p:ext uri="{BB962C8B-B14F-4D97-AF65-F5344CB8AC3E}">
        <p14:creationId xmlns:p14="http://schemas.microsoft.com/office/powerpoint/2010/main" val="7163679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3790" y="468147"/>
            <a:ext cx="7660210" cy="956291"/>
          </a:xfrm>
          <a:noFill/>
          <a:ln w="9525">
            <a:noFill/>
            <a:miter lim="800000"/>
            <a:headEnd/>
            <a:tailEnd/>
          </a:ln>
        </p:spPr>
        <p:txBody>
          <a:bodyPr vert="horz" wrap="square" lIns="91440" tIns="45720" rIns="91440" bIns="45720" numCol="1" anchor="ctr" anchorCtr="0" compatLnSpc="1">
            <a:prstTxWarp prst="textNoShape">
              <a:avLst/>
            </a:prstTxWarp>
            <a:normAutofit/>
          </a:bodyPr>
          <a:lstStyle/>
          <a:p>
            <a:pPr eaLnBrk="1" hangingPunct="1"/>
            <a:r>
              <a:rPr lang="en-US" sz="3600" b="1" dirty="0" smtClean="0">
                <a:solidFill>
                  <a:srgbClr val="000000"/>
                </a:solidFill>
              </a:rPr>
              <a:t>Let’s start with some math</a:t>
            </a:r>
            <a:endParaRPr lang="en-US" sz="3600" b="1" dirty="0">
              <a:solidFill>
                <a:srgbClr val="000000"/>
              </a:solidFill>
            </a:endParaRPr>
          </a:p>
        </p:txBody>
      </p:sp>
      <p:sp>
        <p:nvSpPr>
          <p:cNvPr id="3" name="Content Placeholder 2"/>
          <p:cNvSpPr>
            <a:spLocks noGrp="1"/>
          </p:cNvSpPr>
          <p:nvPr>
            <p:ph idx="1"/>
          </p:nvPr>
        </p:nvSpPr>
        <p:spPr>
          <a:xfrm>
            <a:off x="472440" y="1389077"/>
            <a:ext cx="8229600" cy="748680"/>
          </a:xfrm>
        </p:spPr>
        <p:txBody>
          <a:bodyPr>
            <a:normAutofit/>
          </a:bodyPr>
          <a:lstStyle/>
          <a:p>
            <a:pPr marL="0" indent="0" algn="ctr">
              <a:buNone/>
            </a:pPr>
            <a:r>
              <a:rPr lang="en-US" sz="2400" b="1" dirty="0" smtClean="0">
                <a:solidFill>
                  <a:srgbClr val="FF0000"/>
                </a:solidFill>
                <a:latin typeface="Times New Roman" panose="02020603050405020304" pitchFamily="18" charset="0"/>
                <a:cs typeface="Times New Roman" panose="02020603050405020304" pitchFamily="18" charset="0"/>
              </a:rPr>
              <a:t>Profit = Profit margin * Sales volume</a:t>
            </a:r>
          </a:p>
          <a:p>
            <a:pPr marL="0" indent="0">
              <a:buNone/>
            </a:pPr>
            <a:endParaRPr lang="en-US" sz="2400" dirty="0"/>
          </a:p>
        </p:txBody>
      </p:sp>
      <p:sp>
        <p:nvSpPr>
          <p:cNvPr id="15" name="Down Arrow 14"/>
          <p:cNvSpPr/>
          <p:nvPr/>
        </p:nvSpPr>
        <p:spPr bwMode="auto">
          <a:xfrm rot="10800000">
            <a:off x="2166018" y="5039600"/>
            <a:ext cx="432048" cy="727993"/>
          </a:xfrm>
          <a:prstGeom prst="downArrow">
            <a:avLst/>
          </a:prstGeom>
          <a:solidFill>
            <a:srgbClr val="FF6600"/>
          </a:solidFill>
          <a:ln w="12700" cap="sq"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charset="0"/>
              <a:ea typeface="宋体" pitchFamily="2" charset="-122"/>
            </a:endParaRPr>
          </a:p>
        </p:txBody>
      </p:sp>
      <p:sp>
        <p:nvSpPr>
          <p:cNvPr id="16" name="Down Arrow 15"/>
          <p:cNvSpPr/>
          <p:nvPr/>
        </p:nvSpPr>
        <p:spPr bwMode="auto">
          <a:xfrm rot="10800000">
            <a:off x="6835292" y="5050711"/>
            <a:ext cx="432048" cy="727993"/>
          </a:xfrm>
          <a:prstGeom prst="downArrow">
            <a:avLst/>
          </a:prstGeom>
          <a:solidFill>
            <a:srgbClr val="FF6600"/>
          </a:solidFill>
          <a:ln w="12700" cap="sq"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charset="0"/>
              <a:ea typeface="宋体" pitchFamily="2" charset="-122"/>
            </a:endParaRPr>
          </a:p>
        </p:txBody>
      </p:sp>
      <p:sp>
        <p:nvSpPr>
          <p:cNvPr id="17" name="Right Brace 16"/>
          <p:cNvSpPr/>
          <p:nvPr/>
        </p:nvSpPr>
        <p:spPr bwMode="auto">
          <a:xfrm rot="5400000">
            <a:off x="4570916" y="3612235"/>
            <a:ext cx="256449" cy="4669274"/>
          </a:xfrm>
          <a:prstGeom prst="rightBrace">
            <a:avLst/>
          </a:prstGeom>
          <a:solidFill>
            <a:schemeClr val="accent1"/>
          </a:solidFill>
          <a:ln w="12700" cap="sq"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charset="0"/>
              <a:ea typeface="宋体" pitchFamily="2" charset="-122"/>
            </a:endParaRPr>
          </a:p>
        </p:txBody>
      </p:sp>
      <p:sp>
        <p:nvSpPr>
          <p:cNvPr id="18" name="TextBox 17"/>
          <p:cNvSpPr txBox="1"/>
          <p:nvPr/>
        </p:nvSpPr>
        <p:spPr>
          <a:xfrm>
            <a:off x="2364503" y="6075096"/>
            <a:ext cx="4738371" cy="677108"/>
          </a:xfrm>
          <a:prstGeom prst="rect">
            <a:avLst/>
          </a:prstGeom>
          <a:noFill/>
        </p:spPr>
        <p:txBody>
          <a:bodyPr wrap="square" rtlCol="0">
            <a:spAutoFit/>
          </a:bodyPr>
          <a:lstStyle/>
          <a:p>
            <a:pPr algn="ctr"/>
            <a:r>
              <a:rPr lang="en-US" sz="2000" b="1" dirty="0" smtClean="0"/>
              <a:t>Trade-off: </a:t>
            </a:r>
          </a:p>
          <a:p>
            <a:r>
              <a:rPr lang="en-US" dirty="0" smtClean="0"/>
              <a:t>which once is more cost effective?</a:t>
            </a:r>
            <a:endParaRPr lang="en-US" dirty="0"/>
          </a:p>
        </p:txBody>
      </p:sp>
      <p:grpSp>
        <p:nvGrpSpPr>
          <p:cNvPr id="11" name="Group 10"/>
          <p:cNvGrpSpPr/>
          <p:nvPr/>
        </p:nvGrpSpPr>
        <p:grpSpPr>
          <a:xfrm>
            <a:off x="1259632" y="1796535"/>
            <a:ext cx="7118871" cy="2090888"/>
            <a:chOff x="1133550" y="2330220"/>
            <a:chExt cx="7118871" cy="2090888"/>
          </a:xfrm>
        </p:grpSpPr>
        <p:sp>
          <p:nvSpPr>
            <p:cNvPr id="5" name="Right Arrow 4"/>
            <p:cNvSpPr/>
            <p:nvPr/>
          </p:nvSpPr>
          <p:spPr bwMode="auto">
            <a:xfrm rot="18786987">
              <a:off x="2273471" y="2829553"/>
              <a:ext cx="1094250" cy="95583"/>
            </a:xfrm>
            <a:prstGeom prst="rightArrow">
              <a:avLst/>
            </a:prstGeom>
            <a:solidFill>
              <a:schemeClr val="accent1"/>
            </a:solidFill>
            <a:ln w="12700" cap="sq"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charset="0"/>
                <a:ea typeface="宋体" pitchFamily="2" charset="-122"/>
              </a:endParaRPr>
            </a:p>
          </p:txBody>
        </p:sp>
        <p:sp>
          <p:nvSpPr>
            <p:cNvPr id="6" name="Right Arrow 5"/>
            <p:cNvSpPr/>
            <p:nvPr/>
          </p:nvSpPr>
          <p:spPr bwMode="auto">
            <a:xfrm rot="13471399">
              <a:off x="6006074" y="2849997"/>
              <a:ext cx="1094250" cy="95583"/>
            </a:xfrm>
            <a:prstGeom prst="rightArrow">
              <a:avLst/>
            </a:prstGeom>
            <a:solidFill>
              <a:schemeClr val="accent1"/>
            </a:solidFill>
            <a:ln w="12700" cap="sq"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charset="0"/>
                <a:ea typeface="宋体" pitchFamily="2" charset="-122"/>
              </a:endParaRPr>
            </a:p>
          </p:txBody>
        </p:sp>
        <p:sp>
          <p:nvSpPr>
            <p:cNvPr id="7" name="Oval 6"/>
            <p:cNvSpPr/>
            <p:nvPr/>
          </p:nvSpPr>
          <p:spPr bwMode="auto">
            <a:xfrm>
              <a:off x="1133550" y="3557012"/>
              <a:ext cx="2592288" cy="864096"/>
            </a:xfrm>
            <a:prstGeom prst="ellipse">
              <a:avLst/>
            </a:prstGeom>
            <a:solidFill>
              <a:schemeClr val="accent1"/>
            </a:solidFill>
            <a:ln w="12700" cap="sq"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dirty="0" smtClean="0">
                  <a:ea typeface="宋体" pitchFamily="2" charset="-122"/>
                </a:rPr>
                <a:t>p</a:t>
              </a:r>
              <a:r>
                <a:rPr kumimoji="0" lang="en-US" sz="1800" b="0" i="0" u="none" strike="noStrike" cap="none" normalizeH="0" baseline="0" dirty="0" smtClean="0">
                  <a:ln>
                    <a:noFill/>
                  </a:ln>
                  <a:solidFill>
                    <a:schemeClr val="tx1"/>
                  </a:solidFill>
                  <a:effectLst/>
                  <a:latin typeface="Arial" charset="0"/>
                  <a:ea typeface="宋体" pitchFamily="2" charset="-122"/>
                </a:rPr>
                <a:t>roduct</a:t>
              </a:r>
            </a:p>
            <a:p>
              <a:pPr marL="0" marR="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dirty="0" smtClean="0">
                  <a:ln>
                    <a:noFill/>
                  </a:ln>
                  <a:solidFill>
                    <a:schemeClr val="tx1"/>
                  </a:solidFill>
                  <a:effectLst/>
                  <a:latin typeface="Arial" charset="0"/>
                  <a:ea typeface="宋体" pitchFamily="2" charset="-122"/>
                </a:rPr>
                <a:t>quality &amp; pricing</a:t>
              </a:r>
              <a:endParaRPr kumimoji="0" lang="en-US" sz="1800" b="0" i="0" u="none" strike="noStrike" cap="none" normalizeH="0" baseline="0" dirty="0" smtClean="0">
                <a:ln>
                  <a:noFill/>
                </a:ln>
                <a:solidFill>
                  <a:schemeClr val="tx1"/>
                </a:solidFill>
                <a:effectLst/>
                <a:latin typeface="Arial" charset="0"/>
                <a:ea typeface="宋体" pitchFamily="2" charset="-122"/>
              </a:endParaRPr>
            </a:p>
          </p:txBody>
        </p:sp>
        <p:sp>
          <p:nvSpPr>
            <p:cNvPr id="8" name="Oval 7"/>
            <p:cNvSpPr/>
            <p:nvPr/>
          </p:nvSpPr>
          <p:spPr bwMode="auto">
            <a:xfrm>
              <a:off x="5598047" y="3557012"/>
              <a:ext cx="2654374" cy="864096"/>
            </a:xfrm>
            <a:prstGeom prst="ellipse">
              <a:avLst/>
            </a:prstGeom>
            <a:solidFill>
              <a:schemeClr val="accent1"/>
            </a:solidFill>
            <a:ln w="12700" cap="sq" cmpd="sng" algn="ctr">
              <a:solidFill>
                <a:schemeClr val="tx1"/>
              </a:solidFill>
              <a:prstDash val="solid"/>
              <a:round/>
              <a:headEnd type="none" w="sm" len="sm"/>
              <a:tailEnd type="none" w="sm" len="sm"/>
            </a:ln>
            <a:effectLst/>
          </p:spPr>
          <p:txBody>
            <a:bodyPr vert="horz" wrap="square" lIns="91440" tIns="45720" rIns="91440" bIns="45720" numCol="1" rtlCol="0" anchor="b"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dirty="0">
                  <a:ea typeface="宋体" pitchFamily="2" charset="-122"/>
                </a:rPr>
                <a:t>p</a:t>
              </a:r>
              <a:r>
                <a:rPr kumimoji="0" lang="en-US" sz="1800" b="0" i="0" u="none" strike="noStrike" cap="none" normalizeH="0" baseline="0" dirty="0" smtClean="0">
                  <a:ln>
                    <a:noFill/>
                  </a:ln>
                  <a:solidFill>
                    <a:schemeClr val="tx1"/>
                  </a:solidFill>
                  <a:effectLst/>
                  <a:latin typeface="Arial" charset="0"/>
                  <a:ea typeface="宋体" pitchFamily="2" charset="-122"/>
                </a:rPr>
                <a:t>roduct</a:t>
              </a:r>
              <a:r>
                <a:rPr kumimoji="0" lang="en-US" sz="1800" b="0" i="0" u="none" strike="noStrike" cap="none" normalizeH="0" dirty="0" smtClean="0">
                  <a:ln>
                    <a:noFill/>
                  </a:ln>
                  <a:solidFill>
                    <a:schemeClr val="tx1"/>
                  </a:solidFill>
                  <a:effectLst/>
                  <a:latin typeface="Arial" charset="0"/>
                  <a:ea typeface="宋体" pitchFamily="2" charset="-122"/>
                </a:rPr>
                <a:t> accessibility</a:t>
              </a:r>
              <a:endParaRPr kumimoji="0" lang="en-US" sz="1800" b="0" i="0" u="none" strike="noStrike" cap="none" normalizeH="0" baseline="0" dirty="0" smtClean="0">
                <a:ln>
                  <a:noFill/>
                </a:ln>
                <a:solidFill>
                  <a:schemeClr val="tx1"/>
                </a:solidFill>
                <a:effectLst/>
                <a:latin typeface="Arial" charset="0"/>
                <a:ea typeface="宋体" pitchFamily="2" charset="-122"/>
              </a:endParaRPr>
            </a:p>
          </p:txBody>
        </p:sp>
      </p:grpSp>
      <p:sp>
        <p:nvSpPr>
          <p:cNvPr id="19" name="Rectangle 18"/>
          <p:cNvSpPr/>
          <p:nvPr/>
        </p:nvSpPr>
        <p:spPr bwMode="auto">
          <a:xfrm>
            <a:off x="4013886" y="1960286"/>
            <a:ext cx="1584176" cy="725957"/>
          </a:xfrm>
          <a:prstGeom prst="rect">
            <a:avLst/>
          </a:prstGeom>
          <a:solidFill>
            <a:srgbClr val="FF6600"/>
          </a:solidFill>
          <a:ln w="12700" cap="sq"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algn="ctr"/>
            <a:r>
              <a:rPr lang="en-US" dirty="0">
                <a:ea typeface="宋体" pitchFamily="2" charset="-122"/>
              </a:rPr>
              <a:t>promotion:</a:t>
            </a:r>
          </a:p>
          <a:p>
            <a:pPr algn="ctr"/>
            <a:r>
              <a:rPr lang="en-US" dirty="0">
                <a:ea typeface="宋体" pitchFamily="2" charset="-122"/>
              </a:rPr>
              <a:t>a </a:t>
            </a:r>
            <a:r>
              <a:rPr lang="en-US" dirty="0" smtClean="0">
                <a:ea typeface="宋体" pitchFamily="2" charset="-122"/>
              </a:rPr>
              <a:t>booster</a:t>
            </a:r>
            <a:endParaRPr lang="en-US" dirty="0">
              <a:ea typeface="宋体" pitchFamily="2" charset="-122"/>
            </a:endParaRPr>
          </a:p>
        </p:txBody>
      </p:sp>
      <p:grpSp>
        <p:nvGrpSpPr>
          <p:cNvPr id="14" name="Group 13"/>
          <p:cNvGrpSpPr/>
          <p:nvPr/>
        </p:nvGrpSpPr>
        <p:grpSpPr>
          <a:xfrm>
            <a:off x="1005840" y="4067720"/>
            <a:ext cx="7696200" cy="369332"/>
            <a:chOff x="1176599" y="4143058"/>
            <a:chExt cx="7105751" cy="369332"/>
          </a:xfrm>
        </p:grpSpPr>
        <p:sp>
          <p:nvSpPr>
            <p:cNvPr id="9" name="TextBox 8"/>
            <p:cNvSpPr txBox="1"/>
            <p:nvPr/>
          </p:nvSpPr>
          <p:spPr>
            <a:xfrm>
              <a:off x="1176599" y="4143058"/>
              <a:ext cx="7105751" cy="369332"/>
            </a:xfrm>
            <a:prstGeom prst="rect">
              <a:avLst/>
            </a:prstGeom>
            <a:noFill/>
          </p:spPr>
          <p:txBody>
            <a:bodyPr wrap="square" rtlCol="0">
              <a:spAutoFit/>
            </a:bodyPr>
            <a:lstStyle/>
            <a:p>
              <a:r>
                <a:rPr lang="en-US" dirty="0" smtClean="0"/>
                <a:t>Low quality and low price for the masses             big sale volume </a:t>
              </a:r>
              <a:endParaRPr lang="en-US" dirty="0"/>
            </a:p>
          </p:txBody>
        </p:sp>
        <p:cxnSp>
          <p:nvCxnSpPr>
            <p:cNvPr id="12" name="Straight Arrow Connector 11"/>
            <p:cNvCxnSpPr/>
            <p:nvPr/>
          </p:nvCxnSpPr>
          <p:spPr bwMode="auto">
            <a:xfrm>
              <a:off x="5479076" y="4349495"/>
              <a:ext cx="648072" cy="0"/>
            </a:xfrm>
            <a:prstGeom prst="straightConnector1">
              <a:avLst/>
            </a:prstGeom>
            <a:solidFill>
              <a:schemeClr val="accent1"/>
            </a:solidFill>
            <a:ln w="12700" cap="sq" cmpd="sng" algn="ctr">
              <a:solidFill>
                <a:schemeClr val="tx1"/>
              </a:solidFill>
              <a:prstDash val="solid"/>
              <a:round/>
              <a:headEnd type="none" w="sm" len="sm"/>
              <a:tailEnd type="triangle"/>
            </a:ln>
            <a:effectLst/>
          </p:spPr>
        </p:cxnSp>
      </p:grpSp>
      <p:grpSp>
        <p:nvGrpSpPr>
          <p:cNvPr id="21" name="Group 20"/>
          <p:cNvGrpSpPr/>
          <p:nvPr/>
        </p:nvGrpSpPr>
        <p:grpSpPr>
          <a:xfrm>
            <a:off x="1005840" y="4580981"/>
            <a:ext cx="8008619" cy="369332"/>
            <a:chOff x="845820" y="4591329"/>
            <a:chExt cx="8008619" cy="369332"/>
          </a:xfrm>
        </p:grpSpPr>
        <p:sp>
          <p:nvSpPr>
            <p:cNvPr id="10" name="TextBox 9"/>
            <p:cNvSpPr txBox="1"/>
            <p:nvPr/>
          </p:nvSpPr>
          <p:spPr>
            <a:xfrm>
              <a:off x="845820" y="4591329"/>
              <a:ext cx="8008619" cy="369332"/>
            </a:xfrm>
            <a:prstGeom prst="rect">
              <a:avLst/>
            </a:prstGeom>
            <a:noFill/>
          </p:spPr>
          <p:txBody>
            <a:bodyPr wrap="square" rtlCol="0">
              <a:spAutoFit/>
            </a:bodyPr>
            <a:lstStyle/>
            <a:p>
              <a:r>
                <a:rPr lang="en-US" dirty="0" smtClean="0"/>
                <a:t>High quality and premium price for the rich          limited sale volume </a:t>
              </a:r>
              <a:endParaRPr lang="en-US" dirty="0"/>
            </a:p>
          </p:txBody>
        </p:sp>
        <p:cxnSp>
          <p:nvCxnSpPr>
            <p:cNvPr id="20" name="Straight Arrow Connector 19"/>
            <p:cNvCxnSpPr/>
            <p:nvPr/>
          </p:nvCxnSpPr>
          <p:spPr bwMode="auto">
            <a:xfrm>
              <a:off x="5733683" y="4789783"/>
              <a:ext cx="522005" cy="0"/>
            </a:xfrm>
            <a:prstGeom prst="straightConnector1">
              <a:avLst/>
            </a:prstGeom>
            <a:solidFill>
              <a:schemeClr val="accent1"/>
            </a:solidFill>
            <a:ln w="12700" cap="sq" cmpd="sng" algn="ctr">
              <a:solidFill>
                <a:schemeClr val="tx1"/>
              </a:solidFill>
              <a:prstDash val="solid"/>
              <a:round/>
              <a:headEnd type="none" w="sm" len="sm"/>
              <a:tailEnd type="triangle"/>
            </a:ln>
            <a:effectLst/>
          </p:spPr>
        </p:cxnSp>
      </p:grpSp>
    </p:spTree>
    <p:extLst>
      <p:ext uri="{BB962C8B-B14F-4D97-AF65-F5344CB8AC3E}">
        <p14:creationId xmlns:p14="http://schemas.microsoft.com/office/powerpoint/2010/main" val="24283831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11"/>
                                        </p:tgtEl>
                                        <p:attrNameLst>
                                          <p:attrName>style.visibility</p:attrName>
                                        </p:attrNameLst>
                                      </p:cBhvr>
                                      <p:to>
                                        <p:strVal val="visible"/>
                                      </p:to>
                                    </p:set>
                                    <p:anim calcmode="lin" valueType="num">
                                      <p:cBhvr additive="base">
                                        <p:cTn id="14" dur="500" fill="hold"/>
                                        <p:tgtEl>
                                          <p:spTgt spid="11"/>
                                        </p:tgtEl>
                                        <p:attrNameLst>
                                          <p:attrName>ppt_x</p:attrName>
                                        </p:attrNameLst>
                                      </p:cBhvr>
                                      <p:tavLst>
                                        <p:tav tm="0">
                                          <p:val>
                                            <p:strVal val="#ppt_x"/>
                                          </p:val>
                                        </p:tav>
                                        <p:tav tm="100000">
                                          <p:val>
                                            <p:strVal val="#ppt_x"/>
                                          </p:val>
                                        </p:tav>
                                      </p:tavLst>
                                    </p:anim>
                                    <p:anim calcmode="lin" valueType="num">
                                      <p:cBhvr additive="base">
                                        <p:cTn id="15"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grpId="0" nodeType="clickEffect">
                                  <p:stCondLst>
                                    <p:cond delay="0"/>
                                  </p:stCondLst>
                                  <p:childTnLst>
                                    <p:set>
                                      <p:cBhvr>
                                        <p:cTn id="19" dur="1" fill="hold">
                                          <p:stCondLst>
                                            <p:cond delay="0"/>
                                          </p:stCondLst>
                                        </p:cTn>
                                        <p:tgtEl>
                                          <p:spTgt spid="19"/>
                                        </p:tgtEl>
                                        <p:attrNameLst>
                                          <p:attrName>style.visibility</p:attrName>
                                        </p:attrNameLst>
                                      </p:cBhvr>
                                      <p:to>
                                        <p:strVal val="visible"/>
                                      </p:to>
                                    </p:set>
                                    <p:anim calcmode="lin" valueType="num">
                                      <p:cBhvr additive="base">
                                        <p:cTn id="20" dur="500" fill="hold"/>
                                        <p:tgtEl>
                                          <p:spTgt spid="19"/>
                                        </p:tgtEl>
                                        <p:attrNameLst>
                                          <p:attrName>ppt_x</p:attrName>
                                        </p:attrNameLst>
                                      </p:cBhvr>
                                      <p:tavLst>
                                        <p:tav tm="0">
                                          <p:val>
                                            <p:strVal val="#ppt_x"/>
                                          </p:val>
                                        </p:tav>
                                        <p:tav tm="100000">
                                          <p:val>
                                            <p:strVal val="#ppt_x"/>
                                          </p:val>
                                        </p:tav>
                                      </p:tavLst>
                                    </p:anim>
                                    <p:anim calcmode="lin" valueType="num">
                                      <p:cBhvr additive="base">
                                        <p:cTn id="21"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nodeType="clickEffect">
                                  <p:stCondLst>
                                    <p:cond delay="0"/>
                                  </p:stCondLst>
                                  <p:childTnLst>
                                    <p:set>
                                      <p:cBhvr>
                                        <p:cTn id="25" dur="1" fill="hold">
                                          <p:stCondLst>
                                            <p:cond delay="0"/>
                                          </p:stCondLst>
                                        </p:cTn>
                                        <p:tgtEl>
                                          <p:spTgt spid="14"/>
                                        </p:tgtEl>
                                        <p:attrNameLst>
                                          <p:attrName>style.visibility</p:attrName>
                                        </p:attrNameLst>
                                      </p:cBhvr>
                                      <p:to>
                                        <p:strVal val="visible"/>
                                      </p:to>
                                    </p:set>
                                    <p:anim calcmode="lin" valueType="num">
                                      <p:cBhvr additive="base">
                                        <p:cTn id="26" dur="500" fill="hold"/>
                                        <p:tgtEl>
                                          <p:spTgt spid="14"/>
                                        </p:tgtEl>
                                        <p:attrNameLst>
                                          <p:attrName>ppt_x</p:attrName>
                                        </p:attrNameLst>
                                      </p:cBhvr>
                                      <p:tavLst>
                                        <p:tav tm="0">
                                          <p:val>
                                            <p:strVal val="#ppt_x"/>
                                          </p:val>
                                        </p:tav>
                                        <p:tav tm="100000">
                                          <p:val>
                                            <p:strVal val="#ppt_x"/>
                                          </p:val>
                                        </p:tav>
                                      </p:tavLst>
                                    </p:anim>
                                    <p:anim calcmode="lin" valueType="num">
                                      <p:cBhvr additive="base">
                                        <p:cTn id="27"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42" presetClass="entr" presetSubtype="0" fill="hold" nodeType="clickEffect">
                                  <p:stCondLst>
                                    <p:cond delay="0"/>
                                  </p:stCondLst>
                                  <p:childTnLst>
                                    <p:set>
                                      <p:cBhvr>
                                        <p:cTn id="31" dur="1" fill="hold">
                                          <p:stCondLst>
                                            <p:cond delay="0"/>
                                          </p:stCondLst>
                                        </p:cTn>
                                        <p:tgtEl>
                                          <p:spTgt spid="21"/>
                                        </p:tgtEl>
                                        <p:attrNameLst>
                                          <p:attrName>style.visibility</p:attrName>
                                        </p:attrNameLst>
                                      </p:cBhvr>
                                      <p:to>
                                        <p:strVal val="visible"/>
                                      </p:to>
                                    </p:set>
                                    <p:animEffect transition="in" filter="fade">
                                      <p:cBhvr>
                                        <p:cTn id="32" dur="1000"/>
                                        <p:tgtEl>
                                          <p:spTgt spid="21"/>
                                        </p:tgtEl>
                                      </p:cBhvr>
                                    </p:animEffect>
                                    <p:anim calcmode="lin" valueType="num">
                                      <p:cBhvr>
                                        <p:cTn id="33" dur="1000" fill="hold"/>
                                        <p:tgtEl>
                                          <p:spTgt spid="21"/>
                                        </p:tgtEl>
                                        <p:attrNameLst>
                                          <p:attrName>ppt_x</p:attrName>
                                        </p:attrNameLst>
                                      </p:cBhvr>
                                      <p:tavLst>
                                        <p:tav tm="0">
                                          <p:val>
                                            <p:strVal val="#ppt_x"/>
                                          </p:val>
                                        </p:tav>
                                        <p:tav tm="100000">
                                          <p:val>
                                            <p:strVal val="#ppt_x"/>
                                          </p:val>
                                        </p:tav>
                                      </p:tavLst>
                                    </p:anim>
                                    <p:anim calcmode="lin" valueType="num">
                                      <p:cBhvr>
                                        <p:cTn id="34" dur="1000" fill="hold"/>
                                        <p:tgtEl>
                                          <p:spTgt spid="21"/>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15"/>
                                        </p:tgtEl>
                                        <p:attrNameLst>
                                          <p:attrName>style.visibility</p:attrName>
                                        </p:attrNameLst>
                                      </p:cBhvr>
                                      <p:to>
                                        <p:strVal val="visible"/>
                                      </p:to>
                                    </p:set>
                                    <p:anim calcmode="lin" valueType="num">
                                      <p:cBhvr additive="base">
                                        <p:cTn id="39" dur="500" fill="hold"/>
                                        <p:tgtEl>
                                          <p:spTgt spid="15"/>
                                        </p:tgtEl>
                                        <p:attrNameLst>
                                          <p:attrName>ppt_x</p:attrName>
                                        </p:attrNameLst>
                                      </p:cBhvr>
                                      <p:tavLst>
                                        <p:tav tm="0">
                                          <p:val>
                                            <p:strVal val="#ppt_x"/>
                                          </p:val>
                                        </p:tav>
                                        <p:tav tm="100000">
                                          <p:val>
                                            <p:strVal val="#ppt_x"/>
                                          </p:val>
                                        </p:tav>
                                      </p:tavLst>
                                    </p:anim>
                                    <p:anim calcmode="lin" valueType="num">
                                      <p:cBhvr additive="base">
                                        <p:cTn id="40" dur="500" fill="hold"/>
                                        <p:tgtEl>
                                          <p:spTgt spid="15"/>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16"/>
                                        </p:tgtEl>
                                        <p:attrNameLst>
                                          <p:attrName>style.visibility</p:attrName>
                                        </p:attrNameLst>
                                      </p:cBhvr>
                                      <p:to>
                                        <p:strVal val="visible"/>
                                      </p:to>
                                    </p:set>
                                    <p:anim calcmode="lin" valueType="num">
                                      <p:cBhvr additive="base">
                                        <p:cTn id="43" dur="500" fill="hold"/>
                                        <p:tgtEl>
                                          <p:spTgt spid="16"/>
                                        </p:tgtEl>
                                        <p:attrNameLst>
                                          <p:attrName>ppt_x</p:attrName>
                                        </p:attrNameLst>
                                      </p:cBhvr>
                                      <p:tavLst>
                                        <p:tav tm="0">
                                          <p:val>
                                            <p:strVal val="#ppt_x"/>
                                          </p:val>
                                        </p:tav>
                                        <p:tav tm="100000">
                                          <p:val>
                                            <p:strVal val="#ppt_x"/>
                                          </p:val>
                                        </p:tav>
                                      </p:tavLst>
                                    </p:anim>
                                    <p:anim calcmode="lin" valueType="num">
                                      <p:cBhvr additive="base">
                                        <p:cTn id="44" dur="500" fill="hold"/>
                                        <p:tgtEl>
                                          <p:spTgt spid="16"/>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 calcmode="lin" valueType="num">
                                      <p:cBhvr additive="base">
                                        <p:cTn id="47" dur="500" fill="hold"/>
                                        <p:tgtEl>
                                          <p:spTgt spid="17"/>
                                        </p:tgtEl>
                                        <p:attrNameLst>
                                          <p:attrName>ppt_x</p:attrName>
                                        </p:attrNameLst>
                                      </p:cBhvr>
                                      <p:tavLst>
                                        <p:tav tm="0">
                                          <p:val>
                                            <p:strVal val="#ppt_x"/>
                                          </p:val>
                                        </p:tav>
                                        <p:tav tm="100000">
                                          <p:val>
                                            <p:strVal val="#ppt_x"/>
                                          </p:val>
                                        </p:tav>
                                      </p:tavLst>
                                    </p:anim>
                                    <p:anim calcmode="lin" valueType="num">
                                      <p:cBhvr additive="base">
                                        <p:cTn id="48" dur="500" fill="hold"/>
                                        <p:tgtEl>
                                          <p:spTgt spid="17"/>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18"/>
                                        </p:tgtEl>
                                        <p:attrNameLst>
                                          <p:attrName>style.visibility</p:attrName>
                                        </p:attrNameLst>
                                      </p:cBhvr>
                                      <p:to>
                                        <p:strVal val="visible"/>
                                      </p:to>
                                    </p:set>
                                    <p:anim calcmode="lin" valueType="num">
                                      <p:cBhvr additive="base">
                                        <p:cTn id="51" dur="500" fill="hold"/>
                                        <p:tgtEl>
                                          <p:spTgt spid="18"/>
                                        </p:tgtEl>
                                        <p:attrNameLst>
                                          <p:attrName>ppt_x</p:attrName>
                                        </p:attrNameLst>
                                      </p:cBhvr>
                                      <p:tavLst>
                                        <p:tav tm="0">
                                          <p:val>
                                            <p:strVal val="#ppt_x"/>
                                          </p:val>
                                        </p:tav>
                                        <p:tav tm="100000">
                                          <p:val>
                                            <p:strVal val="#ppt_x"/>
                                          </p:val>
                                        </p:tav>
                                      </p:tavLst>
                                    </p:anim>
                                    <p:anim calcmode="lin" valueType="num">
                                      <p:cBhvr additive="base">
                                        <p:cTn id="52"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5" grpId="0" animBg="1"/>
      <p:bldP spid="16" grpId="0" animBg="1"/>
      <p:bldP spid="17" grpId="0" animBg="1"/>
      <p:bldP spid="18" grpId="0"/>
      <p:bldP spid="19"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3142182"/>
            <a:ext cx="4091940" cy="3715818"/>
          </a:xfrm>
          <a:solidFill>
            <a:schemeClr val="accent5">
              <a:lumMod val="20000"/>
              <a:lumOff val="80000"/>
            </a:schemeClr>
          </a:solidFill>
          <a:ln>
            <a:solidFill>
              <a:schemeClr val="accent1"/>
            </a:solidFill>
          </a:ln>
        </p:spPr>
        <p:txBody>
          <a:bodyPr>
            <a:noAutofit/>
          </a:bodyPr>
          <a:lstStyle/>
          <a:p>
            <a:pPr>
              <a:buFont typeface="Arial" charset="0"/>
              <a:buNone/>
            </a:pPr>
            <a:r>
              <a:rPr lang="en-US" altLang="zh-CN" sz="2200" dirty="0" smtClean="0"/>
              <a:t>	The tail becomes bigger and longer in new markets (depicted in red). In other words, whereas traditional retailers have focused on the area to the left of the chart, online bookstores derive more sales from the area to the right.</a:t>
            </a:r>
            <a:endParaRPr lang="zh-CN" altLang="en-US" sz="2200" dirty="0" smtClean="0"/>
          </a:p>
        </p:txBody>
      </p:sp>
      <p:pic>
        <p:nvPicPr>
          <p:cNvPr id="33796" name="Picture 4" descr="The long tail bookcover.jpg"/>
          <p:cNvPicPr>
            <a:picLocks noChangeAspect="1" noChangeArrowheads="1"/>
          </p:cNvPicPr>
          <p:nvPr/>
        </p:nvPicPr>
        <p:blipFill>
          <a:blip r:embed="rId2" cstate="print"/>
          <a:srcRect/>
          <a:stretch>
            <a:fillRect/>
          </a:stretch>
        </p:blipFill>
        <p:spPr bwMode="auto">
          <a:xfrm>
            <a:off x="179388" y="519"/>
            <a:ext cx="2559050" cy="3141663"/>
          </a:xfrm>
          <a:prstGeom prst="rect">
            <a:avLst/>
          </a:prstGeom>
          <a:noFill/>
          <a:ln w="9525">
            <a:noFill/>
            <a:miter lim="800000"/>
            <a:headEnd/>
            <a:tailEnd/>
          </a:ln>
        </p:spPr>
      </p:pic>
      <p:grpSp>
        <p:nvGrpSpPr>
          <p:cNvPr id="2" name="Group 6"/>
          <p:cNvGrpSpPr>
            <a:grpSpLocks/>
          </p:cNvGrpSpPr>
          <p:nvPr/>
        </p:nvGrpSpPr>
        <p:grpSpPr bwMode="auto">
          <a:xfrm>
            <a:off x="4381500" y="3444240"/>
            <a:ext cx="4762500" cy="3054985"/>
            <a:chOff x="395536" y="332656"/>
            <a:chExt cx="4455066" cy="2889612"/>
          </a:xfrm>
        </p:grpSpPr>
        <p:pic>
          <p:nvPicPr>
            <p:cNvPr id="20486" name="Picture 2" descr="https://upload.wikimedia.org/wikipedia/commons/thumb/1/12/Longtail.svg/300px-Longtail.svg.png"/>
            <p:cNvPicPr>
              <a:picLocks noChangeAspect="1" noChangeArrowheads="1"/>
            </p:cNvPicPr>
            <p:nvPr/>
          </p:nvPicPr>
          <p:blipFill>
            <a:blip r:embed="rId3" cstate="print"/>
            <a:srcRect/>
            <a:stretch>
              <a:fillRect/>
            </a:stretch>
          </p:blipFill>
          <p:spPr bwMode="auto">
            <a:xfrm>
              <a:off x="395536" y="332656"/>
              <a:ext cx="4248472" cy="2304256"/>
            </a:xfrm>
            <a:prstGeom prst="rect">
              <a:avLst/>
            </a:prstGeom>
            <a:noFill/>
            <a:ln w="9525">
              <a:noFill/>
              <a:miter lim="800000"/>
              <a:headEnd/>
              <a:tailEnd/>
            </a:ln>
          </p:spPr>
        </p:pic>
        <p:sp>
          <p:nvSpPr>
            <p:cNvPr id="20487" name="TextBox 5"/>
            <p:cNvSpPr txBox="1">
              <a:spLocks noChangeArrowheads="1"/>
            </p:cNvSpPr>
            <p:nvPr/>
          </p:nvSpPr>
          <p:spPr bwMode="auto">
            <a:xfrm>
              <a:off x="395536" y="2852936"/>
              <a:ext cx="4455066" cy="369332"/>
            </a:xfrm>
            <a:prstGeom prst="rect">
              <a:avLst/>
            </a:prstGeom>
            <a:noFill/>
            <a:ln w="9525">
              <a:noFill/>
              <a:miter lim="800000"/>
              <a:headEnd/>
              <a:tailEnd/>
            </a:ln>
          </p:spPr>
          <p:txBody>
            <a:bodyPr wrap="none">
              <a:spAutoFit/>
            </a:bodyPr>
            <a:lstStyle/>
            <a:p>
              <a:r>
                <a:rPr lang="en-US" altLang="zh-CN"/>
                <a:t>In which market is doing business easier?</a:t>
              </a:r>
              <a:endParaRPr lang="zh-CN" altLang="en-US"/>
            </a:p>
          </p:txBody>
        </p:sp>
      </p:grpSp>
      <p:pic>
        <p:nvPicPr>
          <p:cNvPr id="33798" name="Picture 6" descr="http://1.bp.blogspot.com/-phUtCRhJZ4U/T0p8EOSmGAI/AAAAAAAAAAc/BIByfzo-JxA/s1600/LongTail.png"/>
          <p:cNvPicPr>
            <a:picLocks noChangeAspect="1" noChangeArrowheads="1"/>
          </p:cNvPicPr>
          <p:nvPr/>
        </p:nvPicPr>
        <p:blipFill>
          <a:blip r:embed="rId4" cstate="print"/>
          <a:srcRect/>
          <a:stretch>
            <a:fillRect/>
          </a:stretch>
        </p:blipFill>
        <p:spPr bwMode="auto">
          <a:xfrm>
            <a:off x="2898140" y="519"/>
            <a:ext cx="6245860" cy="3141663"/>
          </a:xfrm>
          <a:prstGeom prst="rect">
            <a:avLst/>
          </a:prstGeom>
          <a:noFill/>
          <a:ln w="9525">
            <a:solidFill>
              <a:schemeClr val="accent1"/>
            </a:solidFill>
            <a:miter lim="800000"/>
            <a:headEnd/>
            <a:tailEnd/>
          </a:ln>
        </p:spPr>
      </p:pic>
    </p:spTree>
    <p:extLst>
      <p:ext uri="{BB962C8B-B14F-4D97-AF65-F5344CB8AC3E}">
        <p14:creationId xmlns:p14="http://schemas.microsoft.com/office/powerpoint/2010/main" val="29269117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 calcmode="lin" valueType="num">
                                      <p:cBhvr additive="base">
                                        <p:cTn id="7" dur="500" fill="hold"/>
                                        <p:tgtEl>
                                          <p:spTgt spid="3">
                                            <p:bg/>
                                          </p:spTgt>
                                        </p:tgtEl>
                                        <p:attrNameLst>
                                          <p:attrName>ppt_x</p:attrName>
                                        </p:attrNameLst>
                                      </p:cBhvr>
                                      <p:tavLst>
                                        <p:tav tm="0">
                                          <p:val>
                                            <p:strVal val="#ppt_x"/>
                                          </p:val>
                                        </p:tav>
                                        <p:tav tm="100000">
                                          <p:val>
                                            <p:strVal val="#ppt_x"/>
                                          </p:val>
                                        </p:tav>
                                      </p:tavLst>
                                    </p:anim>
                                    <p:anim calcmode="lin" valueType="num">
                                      <p:cBhvr additive="base">
                                        <p:cTn id="8" dur="500" fill="hold"/>
                                        <p:tgtEl>
                                          <p:spTgt spid="3">
                                            <p:bg/>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33796"/>
                                        </p:tgtEl>
                                        <p:attrNameLst>
                                          <p:attrName>style.visibility</p:attrName>
                                        </p:attrNameLst>
                                      </p:cBhvr>
                                      <p:to>
                                        <p:strVal val="visible"/>
                                      </p:to>
                                    </p:set>
                                    <p:anim calcmode="lin" valueType="num">
                                      <p:cBhvr additive="base">
                                        <p:cTn id="17" dur="500" fill="hold"/>
                                        <p:tgtEl>
                                          <p:spTgt spid="33796"/>
                                        </p:tgtEl>
                                        <p:attrNameLst>
                                          <p:attrName>ppt_x</p:attrName>
                                        </p:attrNameLst>
                                      </p:cBhvr>
                                      <p:tavLst>
                                        <p:tav tm="0">
                                          <p:val>
                                            <p:strVal val="#ppt_x"/>
                                          </p:val>
                                        </p:tav>
                                        <p:tav tm="100000">
                                          <p:val>
                                            <p:strVal val="#ppt_x"/>
                                          </p:val>
                                        </p:tav>
                                      </p:tavLst>
                                    </p:anim>
                                    <p:anim calcmode="lin" valueType="num">
                                      <p:cBhvr additive="base">
                                        <p:cTn id="18" dur="500" fill="hold"/>
                                        <p:tgtEl>
                                          <p:spTgt spid="33796"/>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33798"/>
                                        </p:tgtEl>
                                        <p:attrNameLst>
                                          <p:attrName>style.visibility</p:attrName>
                                        </p:attrNameLst>
                                      </p:cBhvr>
                                      <p:to>
                                        <p:strVal val="visible"/>
                                      </p:to>
                                    </p:set>
                                    <p:anim calcmode="lin" valueType="num">
                                      <p:cBhvr additive="base">
                                        <p:cTn id="23" dur="500" fill="hold"/>
                                        <p:tgtEl>
                                          <p:spTgt spid="33798"/>
                                        </p:tgtEl>
                                        <p:attrNameLst>
                                          <p:attrName>ppt_x</p:attrName>
                                        </p:attrNameLst>
                                      </p:cBhvr>
                                      <p:tavLst>
                                        <p:tav tm="0">
                                          <p:val>
                                            <p:strVal val="#ppt_x"/>
                                          </p:val>
                                        </p:tav>
                                        <p:tav tm="100000">
                                          <p:val>
                                            <p:strVal val="#ppt_x"/>
                                          </p:val>
                                        </p:tav>
                                      </p:tavLst>
                                    </p:anim>
                                    <p:anim calcmode="lin" valueType="num">
                                      <p:cBhvr additive="base">
                                        <p:cTn id="24" dur="500" fill="hold"/>
                                        <p:tgtEl>
                                          <p:spTgt spid="3379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p:cNvSpPr>
            <a:spLocks noGrp="1"/>
          </p:cNvSpPr>
          <p:nvPr>
            <p:ph type="title"/>
          </p:nvPr>
        </p:nvSpPr>
        <p:spPr/>
        <p:txBody>
          <a:bodyPr/>
          <a:lstStyle/>
          <a:p>
            <a:endParaRPr lang="en-US" altLang="en-US" smtClean="0"/>
          </a:p>
        </p:txBody>
      </p:sp>
      <p:sp>
        <p:nvSpPr>
          <p:cNvPr id="40963" name="Content Placeholder 2"/>
          <p:cNvSpPr>
            <a:spLocks noGrp="1"/>
          </p:cNvSpPr>
          <p:nvPr>
            <p:ph idx="1"/>
          </p:nvPr>
        </p:nvSpPr>
        <p:spPr/>
        <p:txBody>
          <a:bodyPr/>
          <a:lstStyle/>
          <a:p>
            <a:endParaRPr lang="en-US" altLang="en-US" smtClean="0"/>
          </a:p>
        </p:txBody>
      </p:sp>
      <p:pic>
        <p:nvPicPr>
          <p:cNvPr id="40964" name="Picture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3500" y="44450"/>
            <a:ext cx="9080500" cy="681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3950275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546396" y="2388124"/>
            <a:ext cx="2587704" cy="18306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09130" y="3531870"/>
            <a:ext cx="2906610" cy="180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7"/>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431280" y="2687116"/>
            <a:ext cx="2401253" cy="3894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p:cNvSpPr txBox="1">
            <a:spLocks noChangeArrowheads="1"/>
          </p:cNvSpPr>
          <p:nvPr/>
        </p:nvSpPr>
        <p:spPr bwMode="auto">
          <a:xfrm>
            <a:off x="2015910" y="5851120"/>
            <a:ext cx="432393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en-US" sz="2400" b="1" dirty="0">
                <a:solidFill>
                  <a:srgbClr val="FF0000"/>
                </a:solidFill>
                <a:cs typeface="Arial" panose="020B0604020202020204" pitchFamily="34" charset="0"/>
              </a:rPr>
              <a:t>Information asymmetry</a:t>
            </a:r>
          </a:p>
        </p:txBody>
      </p:sp>
      <p:sp>
        <p:nvSpPr>
          <p:cNvPr id="9" name="Title 3"/>
          <p:cNvSpPr>
            <a:spLocks noGrp="1"/>
          </p:cNvSpPr>
          <p:nvPr>
            <p:ph type="title"/>
          </p:nvPr>
        </p:nvSpPr>
        <p:spPr>
          <a:xfrm>
            <a:off x="1386562" y="634250"/>
            <a:ext cx="7102434" cy="695325"/>
          </a:xfrm>
        </p:spPr>
        <p:txBody>
          <a:bodyPr>
            <a:noAutofit/>
          </a:bodyPr>
          <a:lstStyle/>
          <a:p>
            <a:pPr algn="ctr"/>
            <a:r>
              <a:rPr lang="en-US" altLang="en-US" b="1" dirty="0">
                <a:solidFill>
                  <a:srgbClr val="C00000"/>
                </a:solidFill>
                <a:ea typeface="宋体" panose="02010600030101010101" pitchFamily="2" charset="-122"/>
              </a:rPr>
              <a:t>"Bad Money Drives Out Good" </a:t>
            </a:r>
            <a:br>
              <a:rPr lang="en-US" altLang="en-US" b="1" dirty="0">
                <a:solidFill>
                  <a:srgbClr val="C00000"/>
                </a:solidFill>
                <a:ea typeface="宋体" panose="02010600030101010101" pitchFamily="2" charset="-122"/>
              </a:rPr>
            </a:br>
            <a:r>
              <a:rPr lang="en-US" altLang="en-US" b="1" dirty="0">
                <a:solidFill>
                  <a:srgbClr val="C00000"/>
                </a:solidFill>
                <a:ea typeface="宋体" panose="02010600030101010101" pitchFamily="2" charset="-122"/>
              </a:rPr>
              <a:t>(Gresham’s Law) </a:t>
            </a:r>
            <a:r>
              <a:rPr lang="en-US" altLang="en-US" sz="3200" b="1" dirty="0">
                <a:ea typeface="宋体" panose="02010600030101010101" pitchFamily="2" charset="-122"/>
              </a:rPr>
              <a:t/>
            </a:r>
            <a:br>
              <a:rPr lang="en-US" altLang="en-US" sz="3200" b="1" dirty="0">
                <a:ea typeface="宋体" panose="02010600030101010101" pitchFamily="2" charset="-122"/>
              </a:rPr>
            </a:br>
            <a:endParaRPr lang="en-US" altLang="en-US" sz="3200" b="1" dirty="0">
              <a:ea typeface="宋体" panose="02010600030101010101" pitchFamily="2" charset="-122"/>
            </a:endParaRPr>
          </a:p>
        </p:txBody>
      </p:sp>
    </p:spTree>
    <p:extLst>
      <p:ext uri="{BB962C8B-B14F-4D97-AF65-F5344CB8AC3E}">
        <p14:creationId xmlns:p14="http://schemas.microsoft.com/office/powerpoint/2010/main" val="87483487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42"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1000"/>
                                        <p:tgtEl>
                                          <p:spTgt spid="8"/>
                                        </p:tgtEl>
                                      </p:cBhvr>
                                    </p:animEffect>
                                    <p:anim calcmode="lin" valueType="num">
                                      <p:cBhvr>
                                        <p:cTn id="20" dur="1000" fill="hold"/>
                                        <p:tgtEl>
                                          <p:spTgt spid="8"/>
                                        </p:tgtEl>
                                        <p:attrNameLst>
                                          <p:attrName>ppt_x</p:attrName>
                                        </p:attrNameLst>
                                      </p:cBhvr>
                                      <p:tavLst>
                                        <p:tav tm="0">
                                          <p:val>
                                            <p:strVal val="#ppt_x"/>
                                          </p:val>
                                        </p:tav>
                                        <p:tav tm="100000">
                                          <p:val>
                                            <p:strVal val="#ppt_x"/>
                                          </p:val>
                                        </p:tav>
                                      </p:tavLst>
                                    </p:anim>
                                    <p:anim calcmode="lin" valueType="num">
                                      <p:cBhvr>
                                        <p:cTn id="21"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2" fill="hold" nodeType="clickPar">
                      <p:stCondLst>
                        <p:cond delay="indefinite"/>
                      </p:stCondLst>
                      <p:childTnLst>
                        <p:par>
                          <p:cTn id="23" fill="hold" nodeType="withGroup">
                            <p:stCondLst>
                              <p:cond delay="0"/>
                            </p:stCondLst>
                            <p:childTnLst>
                              <p:par>
                                <p:cTn id="24" presetID="31" presetClass="entr" presetSubtype="0" fill="hold" grpId="0" nodeType="clickEffect">
                                  <p:stCondLst>
                                    <p:cond delay="0"/>
                                  </p:stCondLst>
                                  <p:childTnLst>
                                    <p:set>
                                      <p:cBhvr>
                                        <p:cTn id="25" dur="1" fill="hold">
                                          <p:stCondLst>
                                            <p:cond delay="0"/>
                                          </p:stCondLst>
                                        </p:cTn>
                                        <p:tgtEl>
                                          <p:spTgt spid="2"/>
                                        </p:tgtEl>
                                        <p:attrNameLst>
                                          <p:attrName>style.visibility</p:attrName>
                                        </p:attrNameLst>
                                      </p:cBhvr>
                                      <p:to>
                                        <p:strVal val="visible"/>
                                      </p:to>
                                    </p:set>
                                    <p:anim calcmode="lin" valueType="num">
                                      <p:cBhvr>
                                        <p:cTn id="26" dur="1000" fill="hold"/>
                                        <p:tgtEl>
                                          <p:spTgt spid="2"/>
                                        </p:tgtEl>
                                        <p:attrNameLst>
                                          <p:attrName>ppt_w</p:attrName>
                                        </p:attrNameLst>
                                      </p:cBhvr>
                                      <p:tavLst>
                                        <p:tav tm="0">
                                          <p:val>
                                            <p:fltVal val="0"/>
                                          </p:val>
                                        </p:tav>
                                        <p:tav tm="100000">
                                          <p:val>
                                            <p:strVal val="#ppt_w"/>
                                          </p:val>
                                        </p:tav>
                                      </p:tavLst>
                                    </p:anim>
                                    <p:anim calcmode="lin" valueType="num">
                                      <p:cBhvr>
                                        <p:cTn id="27" dur="1000" fill="hold"/>
                                        <p:tgtEl>
                                          <p:spTgt spid="2"/>
                                        </p:tgtEl>
                                        <p:attrNameLst>
                                          <p:attrName>ppt_h</p:attrName>
                                        </p:attrNameLst>
                                      </p:cBhvr>
                                      <p:tavLst>
                                        <p:tav tm="0">
                                          <p:val>
                                            <p:fltVal val="0"/>
                                          </p:val>
                                        </p:tav>
                                        <p:tav tm="100000">
                                          <p:val>
                                            <p:strVal val="#ppt_h"/>
                                          </p:val>
                                        </p:tav>
                                      </p:tavLst>
                                    </p:anim>
                                    <p:anim calcmode="lin" valueType="num">
                                      <p:cBhvr>
                                        <p:cTn id="28" dur="1000" fill="hold"/>
                                        <p:tgtEl>
                                          <p:spTgt spid="2"/>
                                        </p:tgtEl>
                                        <p:attrNameLst>
                                          <p:attrName>style.rotation</p:attrName>
                                        </p:attrNameLst>
                                      </p:cBhvr>
                                      <p:tavLst>
                                        <p:tav tm="0">
                                          <p:val>
                                            <p:fltVal val="90"/>
                                          </p:val>
                                        </p:tav>
                                        <p:tav tm="100000">
                                          <p:val>
                                            <p:fltVal val="0"/>
                                          </p:val>
                                        </p:tav>
                                      </p:tavLst>
                                    </p:anim>
                                    <p:animEffect transition="in" filter="fade">
                                      <p:cBhvr>
                                        <p:cTn id="29"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12"/>
          <p:cNvGrpSpPr>
            <a:grpSpLocks/>
          </p:cNvGrpSpPr>
          <p:nvPr/>
        </p:nvGrpSpPr>
        <p:grpSpPr bwMode="auto">
          <a:xfrm>
            <a:off x="5335903" y="1136036"/>
            <a:ext cx="3657600" cy="3174633"/>
            <a:chOff x="4266785" y="235739"/>
            <a:chExt cx="4877215" cy="4484281"/>
          </a:xfrm>
        </p:grpSpPr>
        <p:pic>
          <p:nvPicPr>
            <p:cNvPr id="74773" name="Picture 1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672262" y="235739"/>
              <a:ext cx="2471738" cy="2666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4774" name="Picture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266785" y="1037491"/>
              <a:ext cx="2707195" cy="2488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4775" name="Picture 10"/>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045267" y="3659264"/>
              <a:ext cx="4079235" cy="1060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74755" name="Title 3"/>
          <p:cNvSpPr>
            <a:spLocks noGrp="1"/>
          </p:cNvSpPr>
          <p:nvPr>
            <p:ph type="title"/>
          </p:nvPr>
        </p:nvSpPr>
        <p:spPr>
          <a:xfrm>
            <a:off x="1279882" y="540052"/>
            <a:ext cx="7102434" cy="695325"/>
          </a:xfrm>
        </p:spPr>
        <p:txBody>
          <a:bodyPr>
            <a:noAutofit/>
          </a:bodyPr>
          <a:lstStyle/>
          <a:p>
            <a:pPr algn="ctr"/>
            <a:r>
              <a:rPr lang="en-US" altLang="en-US" b="1" dirty="0">
                <a:solidFill>
                  <a:srgbClr val="C00000"/>
                </a:solidFill>
                <a:ea typeface="宋体" panose="02010600030101010101" pitchFamily="2" charset="-122"/>
              </a:rPr>
              <a:t>"Bad Money Drives Out Good</a:t>
            </a:r>
            <a:r>
              <a:rPr lang="en-US" altLang="en-US" b="1" dirty="0" smtClean="0">
                <a:solidFill>
                  <a:srgbClr val="C00000"/>
                </a:solidFill>
                <a:ea typeface="宋体" panose="02010600030101010101" pitchFamily="2" charset="-122"/>
              </a:rPr>
              <a:t>"</a:t>
            </a:r>
            <a:endParaRPr lang="en-US" altLang="en-US" sz="3200" b="1" dirty="0">
              <a:ea typeface="宋体" panose="02010600030101010101" pitchFamily="2" charset="-122"/>
            </a:endParaRPr>
          </a:p>
        </p:txBody>
      </p:sp>
      <p:grpSp>
        <p:nvGrpSpPr>
          <p:cNvPr id="74756" name="Group 1"/>
          <p:cNvGrpSpPr>
            <a:grpSpLocks/>
          </p:cNvGrpSpPr>
          <p:nvPr/>
        </p:nvGrpSpPr>
        <p:grpSpPr bwMode="auto">
          <a:xfrm>
            <a:off x="655320" y="1858567"/>
            <a:ext cx="2612947" cy="2657186"/>
            <a:chOff x="125810" y="1694312"/>
            <a:chExt cx="2384233" cy="2653643"/>
          </a:xfrm>
        </p:grpSpPr>
        <p:pic>
          <p:nvPicPr>
            <p:cNvPr id="74771" name="Picture 5"/>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56252" y="1694312"/>
              <a:ext cx="1753791" cy="1311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4772" name="Picture 6"/>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25810" y="3074624"/>
              <a:ext cx="1905533" cy="1273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74757" name="Picture 7"/>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3166078" y="3333970"/>
            <a:ext cx="1747393" cy="2833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8"/>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4599715" y="5043520"/>
            <a:ext cx="3059906" cy="804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9"/>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5125481" y="4302805"/>
            <a:ext cx="3096815" cy="766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TextBox 13"/>
          <p:cNvSpPr txBox="1">
            <a:spLocks noChangeArrowheads="1"/>
          </p:cNvSpPr>
          <p:nvPr/>
        </p:nvSpPr>
        <p:spPr bwMode="auto">
          <a:xfrm>
            <a:off x="1005840" y="4972050"/>
            <a:ext cx="187904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en-US" sz="2400" b="1" dirty="0">
                <a:solidFill>
                  <a:srgbClr val="FF0000"/>
                </a:solidFill>
                <a:cs typeface="Arial" panose="020B0604020202020204" pitchFamily="34" charset="0"/>
              </a:rPr>
              <a:t>Information Asymmetry</a:t>
            </a:r>
          </a:p>
        </p:txBody>
      </p:sp>
      <p:grpSp>
        <p:nvGrpSpPr>
          <p:cNvPr id="28" name="Group 27"/>
          <p:cNvGrpSpPr>
            <a:grpSpLocks/>
          </p:cNvGrpSpPr>
          <p:nvPr/>
        </p:nvGrpSpPr>
        <p:grpSpPr bwMode="auto">
          <a:xfrm>
            <a:off x="4384730" y="5484429"/>
            <a:ext cx="3489875" cy="962202"/>
            <a:chOff x="3655984" y="5144558"/>
            <a:chExt cx="4652889" cy="1281601"/>
          </a:xfrm>
        </p:grpSpPr>
        <p:sp>
          <p:nvSpPr>
            <p:cNvPr id="2" name="Oval 1"/>
            <p:cNvSpPr/>
            <p:nvPr/>
          </p:nvSpPr>
          <p:spPr>
            <a:xfrm>
              <a:off x="5662800" y="5144558"/>
              <a:ext cx="1113504" cy="50271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74770" name="TextBox 4"/>
            <p:cNvSpPr txBox="1">
              <a:spLocks noChangeArrowheads="1"/>
            </p:cNvSpPr>
            <p:nvPr/>
          </p:nvSpPr>
          <p:spPr bwMode="auto">
            <a:xfrm>
              <a:off x="3655984" y="5647271"/>
              <a:ext cx="4652889" cy="778888"/>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en-US" sz="1400" b="1" dirty="0"/>
                <a:t>Buyers may not like to pay the avg. price of $12,500 if they are </a:t>
              </a:r>
              <a:r>
                <a:rPr lang="en-US" altLang="en-US" b="1" i="1" dirty="0">
                  <a:latin typeface="Times New Roman" panose="02020603050405020304" pitchFamily="18" charset="0"/>
                  <a:cs typeface="Times New Roman" panose="02020603050405020304" pitchFamily="18" charset="0"/>
                </a:rPr>
                <a:t>risk averse</a:t>
              </a:r>
              <a:endParaRPr lang="en-US" altLang="en-US" sz="1400" b="1" i="1" dirty="0">
                <a:latin typeface="Times New Roman" panose="02020603050405020304" pitchFamily="18" charset="0"/>
                <a:cs typeface="Times New Roman" panose="02020603050405020304" pitchFamily="18" charset="0"/>
              </a:endParaRPr>
            </a:p>
          </p:txBody>
        </p:sp>
      </p:grpSp>
      <p:grpSp>
        <p:nvGrpSpPr>
          <p:cNvPr id="24" name="Group 23"/>
          <p:cNvGrpSpPr>
            <a:grpSpLocks/>
          </p:cNvGrpSpPr>
          <p:nvPr/>
        </p:nvGrpSpPr>
        <p:grpSpPr bwMode="auto">
          <a:xfrm>
            <a:off x="2714357" y="2487595"/>
            <a:ext cx="2463609" cy="1232237"/>
            <a:chOff x="1750099" y="2474466"/>
            <a:chExt cx="3284726" cy="1643554"/>
          </a:xfrm>
        </p:grpSpPr>
        <p:grpSp>
          <p:nvGrpSpPr>
            <p:cNvPr id="74763" name="Group 7"/>
            <p:cNvGrpSpPr>
              <a:grpSpLocks/>
            </p:cNvGrpSpPr>
            <p:nvPr/>
          </p:nvGrpSpPr>
          <p:grpSpPr bwMode="auto">
            <a:xfrm>
              <a:off x="2757333" y="2564901"/>
              <a:ext cx="2277492" cy="914085"/>
              <a:chOff x="2649419" y="2849497"/>
              <a:chExt cx="2277492" cy="791734"/>
            </a:xfrm>
          </p:grpSpPr>
          <p:sp>
            <p:nvSpPr>
              <p:cNvPr id="74766" name="TextBox 18"/>
              <p:cNvSpPr txBox="1">
                <a:spLocks noChangeArrowheads="1"/>
              </p:cNvSpPr>
              <p:nvPr/>
            </p:nvSpPr>
            <p:spPr bwMode="auto">
              <a:xfrm>
                <a:off x="2649419" y="2917039"/>
                <a:ext cx="2277492" cy="6044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en-US" sz="1400" b="1" dirty="0"/>
                  <a:t>an “average” price of $12,500</a:t>
                </a:r>
                <a:endParaRPr lang="en-US" altLang="en-US" sz="1400" b="1" i="1" dirty="0">
                  <a:latin typeface="Times New Roman" panose="02020603050405020304" pitchFamily="18" charset="0"/>
                  <a:cs typeface="Times New Roman" panose="02020603050405020304" pitchFamily="18" charset="0"/>
                </a:endParaRPr>
              </a:p>
            </p:txBody>
          </p:sp>
          <p:sp>
            <p:nvSpPr>
              <p:cNvPr id="7" name="Oval 6"/>
              <p:cNvSpPr/>
              <p:nvPr/>
            </p:nvSpPr>
            <p:spPr>
              <a:xfrm>
                <a:off x="2724831" y="2849497"/>
                <a:ext cx="2061090" cy="79173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grpSp>
        <p:cxnSp>
          <p:nvCxnSpPr>
            <p:cNvPr id="16" name="Straight Arrow Connector 15"/>
            <p:cNvCxnSpPr/>
            <p:nvPr/>
          </p:nvCxnSpPr>
          <p:spPr>
            <a:xfrm>
              <a:off x="2128069" y="2474466"/>
              <a:ext cx="704676" cy="30029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flipV="1">
              <a:off x="1750099" y="3254988"/>
              <a:ext cx="1082646" cy="86303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03918464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 calcmode="lin" valueType="num">
                                      <p:cBhvr additive="base">
                                        <p:cTn id="7" dur="500" fill="hold"/>
                                        <p:tgtEl>
                                          <p:spTgt spid="24"/>
                                        </p:tgtEl>
                                        <p:attrNameLst>
                                          <p:attrName>ppt_x</p:attrName>
                                        </p:attrNameLst>
                                      </p:cBhvr>
                                      <p:tavLst>
                                        <p:tav tm="0">
                                          <p:val>
                                            <p:strVal val="#ppt_x"/>
                                          </p:val>
                                        </p:tav>
                                        <p:tav tm="100000">
                                          <p:val>
                                            <p:strVal val="#ppt_x"/>
                                          </p:val>
                                        </p:tav>
                                      </p:tavLst>
                                    </p:anim>
                                    <p:anim calcmode="lin" valueType="num">
                                      <p:cBhvr additive="base">
                                        <p:cTn id="8"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ppt_x"/>
                                          </p:val>
                                        </p:tav>
                                        <p:tav tm="100000">
                                          <p:val>
                                            <p:strVal val="#ppt_x"/>
                                          </p:val>
                                        </p:tav>
                                      </p:tavLst>
                                    </p:anim>
                                    <p:anim calcmode="lin" valueType="num">
                                      <p:cBhvr additive="base">
                                        <p:cTn id="1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28"/>
                                        </p:tgtEl>
                                        <p:attrNameLst>
                                          <p:attrName>style.visibility</p:attrName>
                                        </p:attrNameLst>
                                      </p:cBhvr>
                                      <p:to>
                                        <p:strVal val="visible"/>
                                      </p:to>
                                    </p:set>
                                    <p:anim calcmode="lin" valueType="num">
                                      <p:cBhvr additive="base">
                                        <p:cTn id="19" dur="500" fill="hold"/>
                                        <p:tgtEl>
                                          <p:spTgt spid="28"/>
                                        </p:tgtEl>
                                        <p:attrNameLst>
                                          <p:attrName>ppt_x</p:attrName>
                                        </p:attrNameLst>
                                      </p:cBhvr>
                                      <p:tavLst>
                                        <p:tav tm="0">
                                          <p:val>
                                            <p:strVal val="#ppt_x"/>
                                          </p:val>
                                        </p:tav>
                                        <p:tav tm="100000">
                                          <p:val>
                                            <p:strVal val="#ppt_x"/>
                                          </p:val>
                                        </p:tav>
                                      </p:tavLst>
                                    </p:anim>
                                    <p:anim calcmode="lin" valueType="num">
                                      <p:cBhvr additive="base">
                                        <p:cTn id="20"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10"/>
                                        </p:tgtEl>
                                        <p:attrNameLst>
                                          <p:attrName>style.visibility</p:attrName>
                                        </p:attrNameLst>
                                      </p:cBhvr>
                                      <p:to>
                                        <p:strVal val="visible"/>
                                      </p:to>
                                    </p:set>
                                    <p:anim calcmode="lin" valueType="num">
                                      <p:cBhvr additive="base">
                                        <p:cTn id="25" dur="500" fill="hold"/>
                                        <p:tgtEl>
                                          <p:spTgt spid="10"/>
                                        </p:tgtEl>
                                        <p:attrNameLst>
                                          <p:attrName>ppt_x</p:attrName>
                                        </p:attrNameLst>
                                      </p:cBhvr>
                                      <p:tavLst>
                                        <p:tav tm="0">
                                          <p:val>
                                            <p:strVal val="#ppt_x"/>
                                          </p:val>
                                        </p:tav>
                                        <p:tav tm="100000">
                                          <p:val>
                                            <p:strVal val="#ppt_x"/>
                                          </p:val>
                                        </p:tav>
                                      </p:tavLst>
                                    </p:anim>
                                    <p:anim calcmode="lin" valueType="num">
                                      <p:cBhvr additive="base">
                                        <p:cTn id="26"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nodeType="clickEffect">
                                  <p:stCondLst>
                                    <p:cond delay="0"/>
                                  </p:stCondLst>
                                  <p:childTnLst>
                                    <p:set>
                                      <p:cBhvr>
                                        <p:cTn id="30" dur="1" fill="hold">
                                          <p:stCondLst>
                                            <p:cond delay="0"/>
                                          </p:stCondLst>
                                        </p:cTn>
                                        <p:tgtEl>
                                          <p:spTgt spid="13"/>
                                        </p:tgtEl>
                                        <p:attrNameLst>
                                          <p:attrName>style.visibility</p:attrName>
                                        </p:attrNameLst>
                                      </p:cBhvr>
                                      <p:to>
                                        <p:strVal val="visible"/>
                                      </p:to>
                                    </p:set>
                                    <p:anim calcmode="lin" valueType="num">
                                      <p:cBhvr additive="base">
                                        <p:cTn id="31" dur="500" fill="hold"/>
                                        <p:tgtEl>
                                          <p:spTgt spid="13"/>
                                        </p:tgtEl>
                                        <p:attrNameLst>
                                          <p:attrName>ppt_x</p:attrName>
                                        </p:attrNameLst>
                                      </p:cBhvr>
                                      <p:tavLst>
                                        <p:tav tm="0">
                                          <p:val>
                                            <p:strVal val="#ppt_x"/>
                                          </p:val>
                                        </p:tav>
                                        <p:tav tm="100000">
                                          <p:val>
                                            <p:strVal val="#ppt_x"/>
                                          </p:val>
                                        </p:tav>
                                      </p:tavLst>
                                    </p:anim>
                                    <p:anim calcmode="lin" valueType="num">
                                      <p:cBhvr additive="base">
                                        <p:cTn id="32"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6" presetClass="emph" presetSubtype="0" fill="hold" nodeType="clickEffect">
                                  <p:stCondLst>
                                    <p:cond delay="0"/>
                                  </p:stCondLst>
                                  <p:childTnLst>
                                    <p:animScale>
                                      <p:cBhvr>
                                        <p:cTn id="36" dur="2000" fill="hold"/>
                                        <p:tgtEl>
                                          <p:spTgt spid="14">
                                            <p:txEl>
                                              <p:pRg st="0" end="0"/>
                                            </p:txEl>
                                          </p:spTgt>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1386840" y="521970"/>
            <a:ext cx="6858000" cy="844154"/>
          </a:xfrm>
          <a:noFill/>
        </p:spPr>
        <p:txBody>
          <a:bodyPr anchor="ctr"/>
          <a:lstStyle/>
          <a:p>
            <a:pPr eaLnBrk="1" hangingPunct="1">
              <a:defRPr/>
            </a:pPr>
            <a:r>
              <a:rPr lang="en-US" altLang="zh-TW" b="1" dirty="0">
                <a:ea typeface="宋体" pitchFamily="2" charset="-122"/>
              </a:rPr>
              <a:t>Externality: </a:t>
            </a:r>
            <a:r>
              <a:rPr lang="en-US" altLang="zh-TW" b="1" dirty="0" smtClean="0">
                <a:ea typeface="宋体" pitchFamily="2" charset="-122"/>
              </a:rPr>
              <a:t>Network Effects</a:t>
            </a:r>
            <a:endParaRPr lang="en-US" altLang="zh-TW" b="1" dirty="0">
              <a:ea typeface="宋体" pitchFamily="2" charset="-122"/>
            </a:endParaRPr>
          </a:p>
        </p:txBody>
      </p:sp>
      <p:sp>
        <p:nvSpPr>
          <p:cNvPr id="75779" name="Rectangle 4"/>
          <p:cNvSpPr>
            <a:spLocks noGrp="1" noChangeArrowheads="1"/>
          </p:cNvSpPr>
          <p:nvPr>
            <p:ph idx="1"/>
          </p:nvPr>
        </p:nvSpPr>
        <p:spPr>
          <a:xfrm>
            <a:off x="698500" y="1714857"/>
            <a:ext cx="7889240" cy="1087517"/>
          </a:xfrm>
        </p:spPr>
        <p:txBody>
          <a:bodyPr>
            <a:noAutofit/>
          </a:bodyPr>
          <a:lstStyle/>
          <a:p>
            <a:pPr eaLnBrk="1" hangingPunct="1">
              <a:spcBef>
                <a:spcPct val="40000"/>
              </a:spcBef>
            </a:pPr>
            <a:r>
              <a:rPr lang="en-US" altLang="zh-TW" sz="2400" b="1" dirty="0" smtClean="0">
                <a:ea typeface="宋体" panose="02010600030101010101" pitchFamily="2" charset="-122"/>
              </a:rPr>
              <a:t>Direct </a:t>
            </a:r>
            <a:r>
              <a:rPr lang="en-US" altLang="zh-TW" sz="2400" b="1" dirty="0">
                <a:ea typeface="宋体" panose="02010600030101010101" pitchFamily="2" charset="-122"/>
              </a:rPr>
              <a:t>network effect</a:t>
            </a:r>
            <a:r>
              <a:rPr lang="en-US" altLang="zh-TW" sz="2400" dirty="0">
                <a:ea typeface="宋体" panose="02010600030101010101" pitchFamily="2" charset="-122"/>
              </a:rPr>
              <a:t> is the increase in utility of a product as the number of users increases (e.g., telephones, fax machines). </a:t>
            </a: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695275" y="3151108"/>
            <a:ext cx="4448725" cy="37068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txBox="1">
            <a:spLocks noChangeArrowheads="1"/>
          </p:cNvSpPr>
          <p:nvPr/>
        </p:nvSpPr>
        <p:spPr bwMode="auto">
          <a:xfrm>
            <a:off x="735245" y="3151108"/>
            <a:ext cx="3907875" cy="2181622"/>
          </a:xfrm>
          <a:prstGeom prst="rect">
            <a:avLst/>
          </a:prstGeom>
          <a:noFill/>
          <a:ln w="9525">
            <a:solidFill>
              <a:schemeClr val="bg1">
                <a:lumMod val="95000"/>
              </a:schemeClr>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273050" indent="-273050" algn="l" rtl="0" eaLnBrk="0" fontAlgn="base" hangingPunct="0">
              <a:spcBef>
                <a:spcPts val="600"/>
              </a:spcBef>
              <a:spcAft>
                <a:spcPct val="0"/>
              </a:spcAft>
              <a:buClr>
                <a:schemeClr val="accent1"/>
              </a:buClr>
              <a:buSzPct val="76000"/>
              <a:buFont typeface="Wingdings 3" panose="05040102010807070707" pitchFamily="18" charset="2"/>
              <a:buChar char=""/>
              <a:defRPr sz="2600" kern="1200">
                <a:solidFill>
                  <a:schemeClr val="tx1"/>
                </a:solidFill>
                <a:latin typeface="+mn-lt"/>
                <a:ea typeface="STXinwei" pitchFamily="2" charset="-122"/>
                <a:cs typeface="+mn-cs"/>
              </a:defRPr>
            </a:lvl1pPr>
            <a:lvl2pPr marL="547688" indent="-273050" algn="l" rtl="0" eaLnBrk="0" fontAlgn="base" hangingPunct="0">
              <a:spcBef>
                <a:spcPts val="500"/>
              </a:spcBef>
              <a:spcAft>
                <a:spcPct val="0"/>
              </a:spcAft>
              <a:buClr>
                <a:schemeClr val="accent2"/>
              </a:buClr>
              <a:buSzPct val="76000"/>
              <a:buFont typeface="Wingdings 3" panose="05040102010807070707" pitchFamily="18" charset="2"/>
              <a:buChar char=""/>
              <a:defRPr sz="2300" kern="1200">
                <a:solidFill>
                  <a:schemeClr val="tx2"/>
                </a:solidFill>
                <a:latin typeface="+mn-lt"/>
                <a:ea typeface="STXinwei" pitchFamily="2" charset="-122"/>
                <a:cs typeface="+mn-cs"/>
              </a:defRPr>
            </a:lvl2pPr>
            <a:lvl3pPr marL="822325" indent="-228600" algn="l" rtl="0" eaLnBrk="0" fontAlgn="base" hangingPunct="0">
              <a:spcBef>
                <a:spcPts val="500"/>
              </a:spcBef>
              <a:spcAft>
                <a:spcPct val="0"/>
              </a:spcAft>
              <a:buClr>
                <a:srgbClr val="BCBCBC"/>
              </a:buClr>
              <a:buSzPct val="76000"/>
              <a:buFont typeface="Wingdings 3" panose="05040102010807070707" pitchFamily="18" charset="2"/>
              <a:buChar char=""/>
              <a:defRPr sz="2000" kern="1200">
                <a:solidFill>
                  <a:schemeClr val="tx1"/>
                </a:solidFill>
                <a:latin typeface="+mn-lt"/>
                <a:ea typeface="STXinwei" pitchFamily="2" charset="-122"/>
                <a:cs typeface="+mn-cs"/>
              </a:defRPr>
            </a:lvl3pPr>
            <a:lvl4pPr marL="1096963" indent="-228600" algn="l" rtl="0" eaLnBrk="0" fontAlgn="base" hangingPunct="0">
              <a:spcBef>
                <a:spcPts val="400"/>
              </a:spcBef>
              <a:spcAft>
                <a:spcPct val="0"/>
              </a:spcAft>
              <a:buClr>
                <a:srgbClr val="8BA2B4"/>
              </a:buClr>
              <a:buSzPct val="70000"/>
              <a:buFont typeface="Wingdings" panose="05000000000000000000" pitchFamily="2" charset="2"/>
              <a:buChar char=""/>
              <a:defRPr kern="1200">
                <a:solidFill>
                  <a:schemeClr val="tx1"/>
                </a:solidFill>
                <a:latin typeface="+mn-lt"/>
                <a:ea typeface="STXinwei" pitchFamily="2" charset="-122"/>
                <a:cs typeface="+mn-cs"/>
              </a:defRPr>
            </a:lvl4pPr>
            <a:lvl5pPr marL="1371600" indent="-228600" algn="l" rtl="0" eaLnBrk="0" fontAlgn="base" hangingPunct="0">
              <a:spcBef>
                <a:spcPts val="300"/>
              </a:spcBef>
              <a:spcAft>
                <a:spcPct val="0"/>
              </a:spcAft>
              <a:buClr>
                <a:schemeClr val="accent2"/>
              </a:buClr>
              <a:buSzPct val="70000"/>
              <a:buFont typeface="Wingdings" panose="05000000000000000000" pitchFamily="2" charset="2"/>
              <a:buChar char=""/>
              <a:defRPr sz="1600" kern="1200">
                <a:solidFill>
                  <a:schemeClr val="tx1"/>
                </a:solidFill>
                <a:latin typeface="+mn-lt"/>
                <a:ea typeface="STXinwei" pitchFamily="2" charset="-122"/>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eaLnBrk="1" hangingPunct="1">
              <a:spcBef>
                <a:spcPct val="40000"/>
              </a:spcBef>
              <a:defRPr/>
            </a:pPr>
            <a:r>
              <a:rPr lang="en-US" altLang="zh-TW" sz="2400" b="1" dirty="0" smtClean="0">
                <a:ea typeface="宋体" panose="02010600030101010101" pitchFamily="2" charset="-122"/>
              </a:rPr>
              <a:t>Indirect </a:t>
            </a:r>
            <a:r>
              <a:rPr lang="en-US" altLang="zh-TW" sz="2400" b="1" dirty="0">
                <a:ea typeface="宋体" panose="02010600030101010101" pitchFamily="2" charset="-122"/>
              </a:rPr>
              <a:t>network effect</a:t>
            </a:r>
            <a:r>
              <a:rPr lang="en-US" altLang="zh-TW" sz="2400" dirty="0">
                <a:ea typeface="宋体" panose="02010600030101010101" pitchFamily="2" charset="-122"/>
              </a:rPr>
              <a:t> is the increase in utility of a product as the number of associated accessories to that product increases.</a:t>
            </a:r>
          </a:p>
        </p:txBody>
      </p:sp>
    </p:spTree>
    <p:extLst>
      <p:ext uri="{BB962C8B-B14F-4D97-AF65-F5344CB8AC3E}">
        <p14:creationId xmlns:p14="http://schemas.microsoft.com/office/powerpoint/2010/main" val="89559726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6492800" y="0"/>
            <a:ext cx="2651201" cy="3263899"/>
          </a:xfrm>
          <a:prstGeom prst="rect">
            <a:avLst/>
          </a:prstGeom>
          <a:ln>
            <a:solidFill>
              <a:srgbClr val="0070C0"/>
            </a:solidFill>
          </a:ln>
        </p:spPr>
      </p:pic>
      <p:pic>
        <p:nvPicPr>
          <p:cNvPr id="5" name="Picture 4"/>
          <p:cNvPicPr>
            <a:picLocks noChangeAspect="1"/>
          </p:cNvPicPr>
          <p:nvPr/>
        </p:nvPicPr>
        <p:blipFill>
          <a:blip r:embed="rId3"/>
          <a:stretch>
            <a:fillRect/>
          </a:stretch>
        </p:blipFill>
        <p:spPr>
          <a:xfrm>
            <a:off x="0" y="0"/>
            <a:ext cx="3292400" cy="3263900"/>
          </a:xfrm>
          <a:prstGeom prst="rect">
            <a:avLst/>
          </a:prstGeom>
          <a:ln>
            <a:solidFill>
              <a:srgbClr val="0070C0"/>
            </a:solidFill>
          </a:ln>
        </p:spPr>
      </p:pic>
      <p:pic>
        <p:nvPicPr>
          <p:cNvPr id="6" name="Picture 5"/>
          <p:cNvPicPr>
            <a:picLocks noChangeAspect="1"/>
          </p:cNvPicPr>
          <p:nvPr/>
        </p:nvPicPr>
        <p:blipFill>
          <a:blip r:embed="rId4"/>
          <a:stretch>
            <a:fillRect/>
          </a:stretch>
        </p:blipFill>
        <p:spPr>
          <a:xfrm>
            <a:off x="3200400" y="0"/>
            <a:ext cx="3292400" cy="3263900"/>
          </a:xfrm>
          <a:prstGeom prst="rect">
            <a:avLst/>
          </a:prstGeom>
          <a:ln>
            <a:solidFill>
              <a:srgbClr val="0070C0"/>
            </a:solidFill>
          </a:ln>
        </p:spPr>
      </p:pic>
      <p:grpSp>
        <p:nvGrpSpPr>
          <p:cNvPr id="8" name="Group 7"/>
          <p:cNvGrpSpPr/>
          <p:nvPr/>
        </p:nvGrpSpPr>
        <p:grpSpPr>
          <a:xfrm>
            <a:off x="0" y="3397190"/>
            <a:ext cx="9156701" cy="3442552"/>
            <a:chOff x="0" y="3397190"/>
            <a:chExt cx="9156701" cy="3442552"/>
          </a:xfrm>
        </p:grpSpPr>
        <p:pic>
          <p:nvPicPr>
            <p:cNvPr id="3" name="Picture 2"/>
            <p:cNvPicPr>
              <a:picLocks noChangeAspect="1"/>
            </p:cNvPicPr>
            <p:nvPr/>
          </p:nvPicPr>
          <p:blipFill>
            <a:blip r:embed="rId5"/>
            <a:stretch>
              <a:fillRect/>
            </a:stretch>
          </p:blipFill>
          <p:spPr>
            <a:xfrm>
              <a:off x="12700" y="3810000"/>
              <a:ext cx="9144001" cy="3029742"/>
            </a:xfrm>
            <a:prstGeom prst="rect">
              <a:avLst/>
            </a:prstGeom>
            <a:solidFill>
              <a:srgbClr val="C00000"/>
            </a:solidFill>
            <a:ln>
              <a:solidFill>
                <a:srgbClr val="C00000"/>
              </a:solidFill>
            </a:ln>
          </p:spPr>
        </p:pic>
        <p:sp>
          <p:nvSpPr>
            <p:cNvPr id="7" name="TextBox 6"/>
            <p:cNvSpPr txBox="1"/>
            <p:nvPr/>
          </p:nvSpPr>
          <p:spPr>
            <a:xfrm>
              <a:off x="0" y="3397190"/>
              <a:ext cx="5069016" cy="400110"/>
            </a:xfrm>
            <a:prstGeom prst="rect">
              <a:avLst/>
            </a:prstGeom>
            <a:solidFill>
              <a:schemeClr val="bg1"/>
            </a:solidFill>
            <a:ln>
              <a:solidFill>
                <a:srgbClr val="C00000"/>
              </a:solidFill>
            </a:ln>
          </p:spPr>
          <p:txBody>
            <a:bodyPr wrap="none" rtlCol="0">
              <a:spAutoFit/>
            </a:bodyPr>
            <a:lstStyle/>
            <a:p>
              <a:r>
                <a:rPr lang="en-US" sz="2000" dirty="0" smtClean="0"/>
                <a:t>Coexistence of several network effects:</a:t>
              </a:r>
              <a:endParaRPr lang="en-US" sz="2000" dirty="0"/>
            </a:p>
          </p:txBody>
        </p:sp>
      </p:grpSp>
    </p:spTree>
    <p:extLst>
      <p:ext uri="{BB962C8B-B14F-4D97-AF65-F5344CB8AC3E}">
        <p14:creationId xmlns:p14="http://schemas.microsoft.com/office/powerpoint/2010/main" val="32586170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42"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1000"/>
                                        <p:tgtEl>
                                          <p:spTgt spid="8"/>
                                        </p:tgtEl>
                                      </p:cBhvr>
                                    </p:animEffect>
                                    <p:anim calcmode="lin" valueType="num">
                                      <p:cBhvr>
                                        <p:cTn id="16" dur="1000" fill="hold"/>
                                        <p:tgtEl>
                                          <p:spTgt spid="8"/>
                                        </p:tgtEl>
                                        <p:attrNameLst>
                                          <p:attrName>ppt_x</p:attrName>
                                        </p:attrNameLst>
                                      </p:cBhvr>
                                      <p:tavLst>
                                        <p:tav tm="0">
                                          <p:val>
                                            <p:strVal val="#ppt_x"/>
                                          </p:val>
                                        </p:tav>
                                        <p:tav tm="100000">
                                          <p:val>
                                            <p:strVal val="#ppt_x"/>
                                          </p:val>
                                        </p:tav>
                                      </p:tavLst>
                                    </p:anim>
                                    <p:anim calcmode="lin" valueType="num">
                                      <p:cBhvr>
                                        <p:cTn id="17"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a:xfrm>
            <a:off x="1455420" y="747236"/>
            <a:ext cx="7688579" cy="2559844"/>
          </a:xfrm>
        </p:spPr>
        <p:txBody>
          <a:bodyPr>
            <a:noAutofit/>
          </a:bodyPr>
          <a:lstStyle/>
          <a:p>
            <a:pPr>
              <a:spcBef>
                <a:spcPts val="1200"/>
              </a:spcBef>
            </a:pPr>
            <a:r>
              <a:rPr lang="en-US" altLang="en-US" sz="2400" dirty="0">
                <a:ea typeface="宋体" panose="02010600030101010101" pitchFamily="2" charset="-122"/>
              </a:rPr>
              <a:t>Can you identify some </a:t>
            </a:r>
            <a:r>
              <a:rPr lang="en-US" altLang="en-US" sz="2400" dirty="0" smtClean="0">
                <a:ea typeface="宋体" panose="02010600030101010101" pitchFamily="2" charset="-122"/>
              </a:rPr>
              <a:t>direct </a:t>
            </a:r>
            <a:r>
              <a:rPr lang="en-US" altLang="en-US" sz="2400" dirty="0">
                <a:ea typeface="宋体" panose="02010600030101010101" pitchFamily="2" charset="-122"/>
              </a:rPr>
              <a:t>and in-direct network effects that may influence users’ </a:t>
            </a:r>
            <a:r>
              <a:rPr lang="en-US" altLang="en-US" sz="2400" dirty="0" smtClean="0">
                <a:ea typeface="宋体" panose="02010600030101010101" pitchFamily="2" charset="-122"/>
              </a:rPr>
              <a:t>choices?</a:t>
            </a:r>
            <a:br>
              <a:rPr lang="en-US" altLang="en-US" sz="2400" dirty="0" smtClean="0">
                <a:ea typeface="宋体" panose="02010600030101010101" pitchFamily="2" charset="-122"/>
              </a:rPr>
            </a:br>
            <a:r>
              <a:rPr lang="en-US" altLang="en-US" sz="2400" dirty="0">
                <a:ea typeface="宋体" panose="02010600030101010101" pitchFamily="2" charset="-122"/>
              </a:rPr>
              <a:t/>
            </a:r>
            <a:br>
              <a:rPr lang="en-US" altLang="en-US" sz="2400" dirty="0">
                <a:ea typeface="宋体" panose="02010600030101010101" pitchFamily="2" charset="-122"/>
              </a:rPr>
            </a:br>
            <a:r>
              <a:rPr lang="en-US" altLang="en-US" sz="2400" dirty="0" smtClean="0">
                <a:ea typeface="宋体" panose="02010600030101010101" pitchFamily="2" charset="-122"/>
              </a:rPr>
              <a:t>Can </a:t>
            </a:r>
            <a:r>
              <a:rPr lang="en-US" altLang="en-US" sz="2400" dirty="0">
                <a:ea typeface="宋体" panose="02010600030101010101" pitchFamily="2" charset="-122"/>
              </a:rPr>
              <a:t>you </a:t>
            </a:r>
            <a:r>
              <a:rPr lang="en-US" altLang="en-US" sz="2400" dirty="0" smtClean="0">
                <a:ea typeface="宋体" panose="02010600030101010101" pitchFamily="2" charset="-122"/>
              </a:rPr>
              <a:t>use the notions we just discussed to explain some observations in marketing?</a:t>
            </a:r>
            <a:endParaRPr lang="en-US" altLang="en-US" sz="2400" dirty="0">
              <a:ea typeface="宋体" panose="02010600030101010101" pitchFamily="2" charset="-122"/>
            </a:endParaRPr>
          </a:p>
        </p:txBody>
      </p:sp>
      <p:pic>
        <p:nvPicPr>
          <p:cNvPr id="76804" name="Picture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692503" y="4255770"/>
            <a:ext cx="2451497" cy="2602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6803" name="Rectangle 1"/>
          <p:cNvSpPr>
            <a:spLocks noChangeArrowheads="1"/>
          </p:cNvSpPr>
          <p:nvPr/>
        </p:nvSpPr>
        <p:spPr bwMode="auto">
          <a:xfrm>
            <a:off x="1510665" y="2922300"/>
            <a:ext cx="6535341"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200000"/>
              </a:lnSpc>
              <a:buFont typeface="Wingdings" panose="05000000000000000000" pitchFamily="2" charset="2"/>
              <a:buChar char="§"/>
            </a:pPr>
            <a:r>
              <a:rPr lang="en-US" altLang="en-US" sz="2400" dirty="0">
                <a:latin typeface="Times New Roman" panose="02020603050405020304" pitchFamily="18" charset="0"/>
                <a:cs typeface="Times New Roman" panose="02020603050405020304" pitchFamily="18" charset="0"/>
              </a:rPr>
              <a:t>WhatsApp vs. WeChat</a:t>
            </a:r>
          </a:p>
          <a:p>
            <a:pPr>
              <a:lnSpc>
                <a:spcPct val="200000"/>
              </a:lnSpc>
              <a:buFont typeface="Wingdings" panose="05000000000000000000" pitchFamily="2" charset="2"/>
              <a:buChar char="§"/>
            </a:pPr>
            <a:r>
              <a:rPr lang="en-US" altLang="en-US" sz="2400" dirty="0" smtClean="0">
                <a:latin typeface="Times New Roman" panose="02020603050405020304" pitchFamily="18" charset="0"/>
                <a:cs typeface="Times New Roman" panose="02020603050405020304" pitchFamily="18" charset="0"/>
              </a:rPr>
              <a:t>Free products and versioning, etc</a:t>
            </a:r>
            <a:r>
              <a:rPr lang="en-US" altLang="en-US" sz="24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76693732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4480560" y="1767840"/>
            <a:ext cx="4775200" cy="5311264"/>
          </a:xfrm>
          <a:prstGeom prst="rect">
            <a:avLst/>
          </a:prstGeom>
        </p:spPr>
      </p:pic>
      <p:sp>
        <p:nvSpPr>
          <p:cNvPr id="2" name="Title 1"/>
          <p:cNvSpPr>
            <a:spLocks noGrp="1"/>
          </p:cNvSpPr>
          <p:nvPr>
            <p:ph type="title"/>
          </p:nvPr>
        </p:nvSpPr>
        <p:spPr>
          <a:xfrm>
            <a:off x="1554480" y="705390"/>
            <a:ext cx="4521200" cy="635730"/>
          </a:xfrm>
        </p:spPr>
        <p:txBody>
          <a:bodyPr>
            <a:normAutofit fontScale="90000"/>
          </a:bodyPr>
          <a:lstStyle/>
          <a:p>
            <a:pPr algn="ctr"/>
            <a:r>
              <a:rPr lang="en-US" sz="4000" b="1" dirty="0">
                <a:ea typeface="宋体" pitchFamily="2" charset="-122"/>
              </a:rPr>
              <a:t>Two-sided</a:t>
            </a:r>
            <a:r>
              <a:rPr lang="en-US" dirty="0" smtClean="0"/>
              <a:t> </a:t>
            </a:r>
            <a:r>
              <a:rPr lang="en-US" sz="4000" b="1" dirty="0">
                <a:ea typeface="宋体" pitchFamily="2" charset="-122"/>
              </a:rPr>
              <a:t>markets</a:t>
            </a:r>
            <a:endParaRPr lang="en-US" sz="4000" b="1" dirty="0">
              <a:ea typeface="宋体" pitchFamily="2" charset="-122"/>
            </a:endParaRPr>
          </a:p>
        </p:txBody>
      </p:sp>
      <p:sp>
        <p:nvSpPr>
          <p:cNvPr id="3" name="Content Placeholder 2"/>
          <p:cNvSpPr>
            <a:spLocks noGrp="1"/>
          </p:cNvSpPr>
          <p:nvPr>
            <p:ph idx="1"/>
          </p:nvPr>
        </p:nvSpPr>
        <p:spPr>
          <a:xfrm>
            <a:off x="812800" y="1859280"/>
            <a:ext cx="3810000" cy="4269616"/>
          </a:xfrm>
        </p:spPr>
        <p:txBody>
          <a:bodyPr>
            <a:normAutofit lnSpcReduction="10000"/>
          </a:bodyPr>
          <a:lstStyle/>
          <a:p>
            <a:pPr marL="0" indent="0">
              <a:buNone/>
            </a:pPr>
            <a:r>
              <a:rPr lang="en-US" sz="2000" dirty="0" smtClean="0"/>
              <a:t>Examples:</a:t>
            </a:r>
          </a:p>
          <a:p>
            <a:r>
              <a:rPr lang="en-US" sz="2000" dirty="0" smtClean="0"/>
              <a:t>Matchmaking</a:t>
            </a:r>
            <a:r>
              <a:rPr lang="en-US" sz="2000" dirty="0"/>
              <a:t>: match </a:t>
            </a:r>
            <a:r>
              <a:rPr lang="en-US" sz="2000" dirty="0" smtClean="0"/>
              <a:t>both males </a:t>
            </a:r>
            <a:r>
              <a:rPr lang="en-US" sz="2000" dirty="0"/>
              <a:t>and </a:t>
            </a:r>
            <a:r>
              <a:rPr lang="en-US" sz="2000" dirty="0" smtClean="0"/>
              <a:t>females </a:t>
            </a:r>
            <a:r>
              <a:rPr lang="en-US" sz="2000" dirty="0"/>
              <a:t>to date</a:t>
            </a:r>
          </a:p>
          <a:p>
            <a:r>
              <a:rPr lang="en-US" sz="2000" dirty="0" smtClean="0"/>
              <a:t>Crowdfunding:  attract both campaign creators and backers (buyers &amp; donors)</a:t>
            </a:r>
          </a:p>
          <a:p>
            <a:r>
              <a:rPr lang="en-US" sz="2000" dirty="0" smtClean="0"/>
              <a:t>Ride-hailing: drivers and passengers</a:t>
            </a:r>
          </a:p>
          <a:p>
            <a:r>
              <a:rPr lang="en-US" sz="2000" dirty="0" smtClean="0"/>
              <a:t>ride- and office-sharing, and other sharing economy</a:t>
            </a:r>
          </a:p>
          <a:p>
            <a:endParaRPr lang="en-US" dirty="0"/>
          </a:p>
        </p:txBody>
      </p:sp>
    </p:spTree>
    <p:extLst>
      <p:ext uri="{BB962C8B-B14F-4D97-AF65-F5344CB8AC3E}">
        <p14:creationId xmlns:p14="http://schemas.microsoft.com/office/powerpoint/2010/main" val="7054226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Picture 3"/>
          <p:cNvPicPr>
            <a:picLocks noChangeAspect="1"/>
          </p:cNvPicPr>
          <p:nvPr/>
        </p:nvPicPr>
        <p:blipFill>
          <a:blip r:embed="rId2"/>
          <a:stretch>
            <a:fillRect/>
          </a:stretch>
        </p:blipFill>
        <p:spPr>
          <a:xfrm>
            <a:off x="-203200" y="0"/>
            <a:ext cx="9448800" cy="3962400"/>
          </a:xfrm>
          <a:prstGeom prst="rect">
            <a:avLst/>
          </a:prstGeom>
        </p:spPr>
      </p:pic>
      <p:sp>
        <p:nvSpPr>
          <p:cNvPr id="3" name="Content Placeholder 2"/>
          <p:cNvSpPr>
            <a:spLocks noGrp="1"/>
          </p:cNvSpPr>
          <p:nvPr>
            <p:ph idx="1"/>
          </p:nvPr>
        </p:nvSpPr>
        <p:spPr>
          <a:xfrm>
            <a:off x="0" y="3810000"/>
            <a:ext cx="9144000" cy="3048000"/>
          </a:xfrm>
          <a:solidFill>
            <a:schemeClr val="accent3">
              <a:lumMod val="20000"/>
              <a:lumOff val="80000"/>
            </a:schemeClr>
          </a:solidFill>
        </p:spPr>
        <p:txBody>
          <a:bodyPr>
            <a:noAutofit/>
          </a:bodyPr>
          <a:lstStyle/>
          <a:p>
            <a:r>
              <a:rPr lang="en-US" sz="2000" dirty="0" smtClean="0"/>
              <a:t>Positive cross-side network effects (sequential and simultaneous moves)</a:t>
            </a:r>
          </a:p>
          <a:p>
            <a:r>
              <a:rPr lang="en-US" sz="2000" dirty="0" smtClean="0"/>
              <a:t>More competition among participants on the same side</a:t>
            </a:r>
          </a:p>
          <a:p>
            <a:r>
              <a:rPr lang="en-US" sz="2000" dirty="0" smtClean="0"/>
              <a:t>Increased heterogeneity in participants’ preferences</a:t>
            </a:r>
          </a:p>
          <a:p>
            <a:r>
              <a:rPr lang="en-US" sz="2000" dirty="0" smtClean="0"/>
              <a:t>Change in participants</a:t>
            </a:r>
            <a:r>
              <a:rPr lang="en-US" sz="2000" dirty="0"/>
              <a:t>’ </a:t>
            </a:r>
            <a:r>
              <a:rPr lang="en-US" sz="2000" dirty="0" smtClean="0"/>
              <a:t>composition</a:t>
            </a:r>
          </a:p>
          <a:p>
            <a:r>
              <a:rPr lang="en-US" sz="2000" dirty="0" smtClean="0"/>
              <a:t>Higher cost of matching the two sides </a:t>
            </a:r>
          </a:p>
          <a:p>
            <a:r>
              <a:rPr lang="en-US" sz="2000" dirty="0" smtClean="0"/>
              <a:t>Effective matching becomes one of a platform’s core competences</a:t>
            </a:r>
            <a:endParaRPr lang="en-US" sz="2000" dirty="0"/>
          </a:p>
        </p:txBody>
      </p:sp>
    </p:spTree>
    <p:extLst>
      <p:ext uri="{BB962C8B-B14F-4D97-AF65-F5344CB8AC3E}">
        <p14:creationId xmlns:p14="http://schemas.microsoft.com/office/powerpoint/2010/main" val="3239545880"/>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232</TotalTime>
  <Words>297</Words>
  <Application>Microsoft Office PowerPoint</Application>
  <PresentationFormat>On-screen Show (4:3)</PresentationFormat>
  <Paragraphs>43</Paragraphs>
  <Slides>11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11</vt:i4>
      </vt:variant>
    </vt:vector>
  </HeadingPairs>
  <TitlesOfParts>
    <vt:vector size="19" baseType="lpstr">
      <vt:lpstr>宋体</vt:lpstr>
      <vt:lpstr>幼圆</vt:lpstr>
      <vt:lpstr>Arial</vt:lpstr>
      <vt:lpstr>Century Gothic</vt:lpstr>
      <vt:lpstr>Times New Roman</vt:lpstr>
      <vt:lpstr>Wingdings</vt:lpstr>
      <vt:lpstr>Wingdings 3</vt:lpstr>
      <vt:lpstr>Wisp</vt:lpstr>
      <vt:lpstr>Some fundamental economic forces  in marketing</vt:lpstr>
      <vt:lpstr>Let’s start with some math</vt:lpstr>
      <vt:lpstr>PowerPoint Presentation</vt:lpstr>
      <vt:lpstr>PowerPoint Presentation</vt:lpstr>
      <vt:lpstr>"Bad Money Drives Out Good"  (Gresham’s Law)  </vt:lpstr>
      <vt:lpstr>"Bad Money Drives Out Good"</vt:lpstr>
      <vt:lpstr>Externality: Network Effects</vt:lpstr>
      <vt:lpstr>PowerPoint Presentation</vt:lpstr>
      <vt:lpstr>Can you identify some direct and in-direct network effects that may influence users’ choices?  Can you use the notions we just discussed to explain some observations in marketing?</vt:lpstr>
      <vt:lpstr>Two-sided markets</vt:lpstr>
      <vt:lpstr>PowerPoint Presentation</vt:lpstr>
    </vt:vector>
  </TitlesOfParts>
  <Company>The Hong Kong Polytechnic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Some fundamental forces  in marketing</dc:title>
  <dc:creator>Maggie Wang</dc:creator>
  <cp:lastModifiedBy>XUbin</cp:lastModifiedBy>
  <cp:revision>15</cp:revision>
  <dcterms:created xsi:type="dcterms:W3CDTF">2020-11-30T13:15:58Z</dcterms:created>
  <dcterms:modified xsi:type="dcterms:W3CDTF">2022-11-21T03:54:51Z</dcterms:modified>
</cp:coreProperties>
</file>