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sldIdLst>
    <p:sldId id="328" r:id="rId2"/>
    <p:sldId id="329" r:id="rId3"/>
    <p:sldId id="330" r:id="rId4"/>
    <p:sldId id="331" r:id="rId5"/>
    <p:sldId id="332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9D15C1-54CA-48A0-8634-2DE612B63E93}" v="4" dt="2025-11-05T13:28:47.5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008" autoAdjust="0"/>
  </p:normalViewPr>
  <p:slideViewPr>
    <p:cSldViewPr snapToGrid="0" snapToObjects="1">
      <p:cViewPr varScale="1">
        <p:scale>
          <a:sx n="89" d="100"/>
          <a:sy n="89" d="100"/>
        </p:scale>
        <p:origin x="127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vian Wong" userId="5344cfc4472ba7f2" providerId="LiveId" clId="{EB22F2E7-B556-4766-8640-37ED291FBE34}"/>
    <pc:docChg chg="custSel delSld modSld">
      <pc:chgData name="Vivian Wong" userId="5344cfc4472ba7f2" providerId="LiveId" clId="{EB22F2E7-B556-4766-8640-37ED291FBE34}" dt="2025-11-05T13:28:47.563" v="35"/>
      <pc:docMkLst>
        <pc:docMk/>
      </pc:docMkLst>
      <pc:sldChg chg="addSp modSp mod">
        <pc:chgData name="Vivian Wong" userId="5344cfc4472ba7f2" providerId="LiveId" clId="{EB22F2E7-B556-4766-8640-37ED291FBE34}" dt="2025-11-05T13:28:38.373" v="31" actId="1076"/>
        <pc:sldMkLst>
          <pc:docMk/>
          <pc:sldMk cId="525312508" sldId="328"/>
        </pc:sldMkLst>
        <pc:spChg chg="add mod">
          <ac:chgData name="Vivian Wong" userId="5344cfc4472ba7f2" providerId="LiveId" clId="{EB22F2E7-B556-4766-8640-37ED291FBE34}" dt="2025-11-05T13:28:38.373" v="31" actId="1076"/>
          <ac:spMkLst>
            <pc:docMk/>
            <pc:sldMk cId="525312508" sldId="328"/>
            <ac:spMk id="4" creationId="{8C9F860E-4C76-5DF7-E150-88BFB6C4EF11}"/>
          </ac:spMkLst>
        </pc:spChg>
      </pc:sldChg>
      <pc:sldChg chg="addSp modSp">
        <pc:chgData name="Vivian Wong" userId="5344cfc4472ba7f2" providerId="LiveId" clId="{EB22F2E7-B556-4766-8640-37ED291FBE34}" dt="2025-11-05T13:28:41.108" v="32"/>
        <pc:sldMkLst>
          <pc:docMk/>
          <pc:sldMk cId="3451825760" sldId="329"/>
        </pc:sldMkLst>
        <pc:spChg chg="add mod">
          <ac:chgData name="Vivian Wong" userId="5344cfc4472ba7f2" providerId="LiveId" clId="{EB22F2E7-B556-4766-8640-37ED291FBE34}" dt="2025-11-05T13:28:41.108" v="32"/>
          <ac:spMkLst>
            <pc:docMk/>
            <pc:sldMk cId="3451825760" sldId="329"/>
            <ac:spMk id="3" creationId="{B6494A57-6C89-888F-2E0B-657C07E8743F}"/>
          </ac:spMkLst>
        </pc:spChg>
      </pc:sldChg>
      <pc:sldChg chg="addSp modSp">
        <pc:chgData name="Vivian Wong" userId="5344cfc4472ba7f2" providerId="LiveId" clId="{EB22F2E7-B556-4766-8640-37ED291FBE34}" dt="2025-11-05T13:28:43.348" v="33"/>
        <pc:sldMkLst>
          <pc:docMk/>
          <pc:sldMk cId="2208105004" sldId="330"/>
        </pc:sldMkLst>
        <pc:spChg chg="add mod">
          <ac:chgData name="Vivian Wong" userId="5344cfc4472ba7f2" providerId="LiveId" clId="{EB22F2E7-B556-4766-8640-37ED291FBE34}" dt="2025-11-05T13:28:43.348" v="33"/>
          <ac:spMkLst>
            <pc:docMk/>
            <pc:sldMk cId="2208105004" sldId="330"/>
            <ac:spMk id="3" creationId="{FDC3671A-1FBC-11A6-B2AE-0F6501538774}"/>
          </ac:spMkLst>
        </pc:spChg>
      </pc:sldChg>
      <pc:sldChg chg="addSp modSp">
        <pc:chgData name="Vivian Wong" userId="5344cfc4472ba7f2" providerId="LiveId" clId="{EB22F2E7-B556-4766-8640-37ED291FBE34}" dt="2025-11-05T13:28:45.828" v="34"/>
        <pc:sldMkLst>
          <pc:docMk/>
          <pc:sldMk cId="3999076894" sldId="331"/>
        </pc:sldMkLst>
        <pc:spChg chg="add mod">
          <ac:chgData name="Vivian Wong" userId="5344cfc4472ba7f2" providerId="LiveId" clId="{EB22F2E7-B556-4766-8640-37ED291FBE34}" dt="2025-11-05T13:28:45.828" v="34"/>
          <ac:spMkLst>
            <pc:docMk/>
            <pc:sldMk cId="3999076894" sldId="331"/>
            <ac:spMk id="3" creationId="{F7F4FFD1-2ECA-A814-3DF9-2243B1CABA64}"/>
          </ac:spMkLst>
        </pc:spChg>
      </pc:sldChg>
      <pc:sldChg chg="addSp modSp">
        <pc:chgData name="Vivian Wong" userId="5344cfc4472ba7f2" providerId="LiveId" clId="{EB22F2E7-B556-4766-8640-37ED291FBE34}" dt="2025-11-05T13:28:47.563" v="35"/>
        <pc:sldMkLst>
          <pc:docMk/>
          <pc:sldMk cId="2015623905" sldId="332"/>
        </pc:sldMkLst>
        <pc:spChg chg="add mod">
          <ac:chgData name="Vivian Wong" userId="5344cfc4472ba7f2" providerId="LiveId" clId="{EB22F2E7-B556-4766-8640-37ED291FBE34}" dt="2025-11-05T13:28:47.563" v="35"/>
          <ac:spMkLst>
            <pc:docMk/>
            <pc:sldMk cId="2015623905" sldId="332"/>
            <ac:spMk id="3" creationId="{2ECE754A-94F2-A9CA-2D98-BE929E4E8AE7}"/>
          </ac:spMkLst>
        </pc:spChg>
      </pc:sldChg>
      <pc:sldChg chg="modSp del mod">
        <pc:chgData name="Vivian Wong" userId="5344cfc4472ba7f2" providerId="LiveId" clId="{EB22F2E7-B556-4766-8640-37ED291FBE34}" dt="2025-11-05T13:28:19.382" v="18" actId="47"/>
        <pc:sldMkLst>
          <pc:docMk/>
          <pc:sldMk cId="1981749818" sldId="333"/>
        </pc:sldMkLst>
        <pc:spChg chg="mod">
          <ac:chgData name="Vivian Wong" userId="5344cfc4472ba7f2" providerId="LiveId" clId="{EB22F2E7-B556-4766-8640-37ED291FBE34}" dt="2025-11-05T13:24:32.727" v="16" actId="20577"/>
          <ac:spMkLst>
            <pc:docMk/>
            <pc:sldMk cId="1981749818" sldId="333"/>
            <ac:spMk id="2" creationId="{616161A5-6B3C-BF17-D616-FAB2CCCB6E93}"/>
          </ac:spMkLst>
        </pc:spChg>
        <pc:graphicFrameChg chg="modGraphic">
          <ac:chgData name="Vivian Wong" userId="5344cfc4472ba7f2" providerId="LiveId" clId="{EB22F2E7-B556-4766-8640-37ED291FBE34}" dt="2025-11-05T13:28:13.061" v="17" actId="20577"/>
          <ac:graphicFrameMkLst>
            <pc:docMk/>
            <pc:sldMk cId="1981749818" sldId="333"/>
            <ac:graphicFrameMk id="9" creationId="{12A1F0B5-A61E-47E9-D6F0-0D5C5EECCC75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AA73A0-2BC8-4D0D-9C48-CD8EACD4DFC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C1A48C-0452-43FF-9789-599A78E81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593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2628" y="770467"/>
            <a:ext cx="8086725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0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0634" y="4198409"/>
            <a:ext cx="6921151" cy="164592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06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506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628" y="767419"/>
            <a:ext cx="8085582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0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634" y="4187275"/>
            <a:ext cx="6919722" cy="1645920"/>
          </a:xfrm>
        </p:spPr>
        <p:txBody>
          <a:bodyPr anchor="t"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62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7492" y="1993392"/>
            <a:ext cx="3806190" cy="3767328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7738" y="1993392"/>
            <a:ext cx="3806190" cy="3767328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664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492" y="2032000"/>
            <a:ext cx="3806190" cy="7234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7492" y="2736150"/>
            <a:ext cx="3806190" cy="3200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66310" y="2029968"/>
            <a:ext cx="3806190" cy="722376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66310" y="2734056"/>
            <a:ext cx="3806190" cy="3200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45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829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438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0"/>
            <a:ext cx="3429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196053" y="542282"/>
            <a:ext cx="253746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762000"/>
            <a:ext cx="4572000" cy="4572000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06987" y="2511813"/>
            <a:ext cx="254889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40404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719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918" y="5418668"/>
            <a:ext cx="8085582" cy="613283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9144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rgbClr val="4D4D4D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7492" y="5909735"/>
            <a:ext cx="6922008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2286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868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7963" y="695325"/>
            <a:ext cx="1971675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8644" y="714376"/>
            <a:ext cx="5800725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242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2919" y="499533"/>
            <a:ext cx="8079581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206" y="1993393"/>
            <a:ext cx="8065294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4350" y="6412447"/>
            <a:ext cx="30861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6554697"/>
            <a:ext cx="37719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41193" y="5829748"/>
            <a:ext cx="219456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0" b="0">
                <a:ln>
                  <a:noFill/>
                </a:ln>
                <a:solidFill>
                  <a:schemeClr val="accent1">
                    <a:alpha val="20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806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274320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59EEF9-5954-D092-BB7D-2958851AB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D87AB319-64C0-4E2D-B1CD-0A970301B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DAFA9A5-03CC-4F94-B964-70682CDB0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7460F3-BFEA-A24B-C784-D601A2714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28" y="770467"/>
            <a:ext cx="2600288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2600" dirty="0">
                <a:solidFill>
                  <a:srgbClr val="FFFFFF"/>
                </a:solidFill>
              </a:rPr>
              <a:t>BFI (Conscientiousness) 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3B36B60-731F-409B-A240-BBF521AB7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9292" y="0"/>
            <a:ext cx="566470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5" name="Content Placeholder 24">
            <a:extLst>
              <a:ext uri="{FF2B5EF4-FFF2-40B4-BE49-F238E27FC236}">
                <a16:creationId xmlns:a16="http://schemas.microsoft.com/office/drawing/2014/main" id="{238E7D36-B944-222B-C75C-3CBCB83117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9215720"/>
              </p:ext>
            </p:extLst>
          </p:nvPr>
        </p:nvGraphicFramePr>
        <p:xfrm>
          <a:off x="3961890" y="1068359"/>
          <a:ext cx="4699512" cy="4714567"/>
        </p:xfrm>
        <a:graphic>
          <a:graphicData uri="http://schemas.openxmlformats.org/drawingml/2006/table">
            <a:tbl>
              <a:tblPr>
                <a:noFill/>
                <a:tableStyleId>{5C22544A-7EE6-4342-B048-85BDC9FD1C3A}</a:tableStyleId>
              </a:tblPr>
              <a:tblGrid>
                <a:gridCol w="4699512">
                  <a:extLst>
                    <a:ext uri="{9D8B030D-6E8A-4147-A177-3AD203B41FA5}">
                      <a16:colId xmlns:a16="http://schemas.microsoft.com/office/drawing/2014/main" val="1533757535"/>
                    </a:ext>
                  </a:extLst>
                </a:gridCol>
              </a:tblGrid>
              <a:tr h="485441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3. ﻿﻿﻿Does a thorough job</a:t>
                      </a:r>
                      <a:endParaRPr lang="en-US" sz="2000" b="0" i="0" u="none" strike="noStrike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13667" marT="39360" marB="1312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3936981"/>
                  </a:ext>
                </a:extLst>
              </a:tr>
              <a:tr h="485441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8. Can be somewhat careless </a:t>
                      </a:r>
                      <a:r>
                        <a:rPr lang="en-US" sz="2400" dirty="0"/>
                        <a:t>(R)</a:t>
                      </a:r>
                      <a:endParaRPr lang="en-US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13667" marT="39360" marB="1312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6491154"/>
                  </a:ext>
                </a:extLst>
              </a:tr>
              <a:tr h="485441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13. Is a reliable worker</a:t>
                      </a:r>
                      <a:endParaRPr lang="en-US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13667" marT="39360" marB="1312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975489"/>
                  </a:ext>
                </a:extLst>
              </a:tr>
              <a:tr h="485441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18. Tends to be disorganized </a:t>
                      </a:r>
                      <a:r>
                        <a:rPr lang="en-US" sz="2000" dirty="0"/>
                        <a:t>(R)</a:t>
                      </a:r>
                      <a:endParaRPr lang="en-US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13667" marT="39360" marB="1312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210265"/>
                  </a:ext>
                </a:extLst>
              </a:tr>
              <a:tr h="485441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23. Tends to be lazy </a:t>
                      </a:r>
                      <a:r>
                        <a:rPr lang="en-US" sz="2000" dirty="0"/>
                        <a:t>(R)</a:t>
                      </a:r>
                      <a:endParaRPr lang="en-US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13667" marT="39360" marB="1312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388899"/>
                  </a:ext>
                </a:extLst>
              </a:tr>
              <a:tr h="485441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28. Perseveres until the task is finished</a:t>
                      </a:r>
                      <a:endParaRPr lang="en-US" sz="2000" b="0" i="0" u="none" strike="noStrike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13667" marT="39360" marB="1312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919388"/>
                  </a:ext>
                </a:extLst>
              </a:tr>
              <a:tr h="485441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33. ﻿﻿﻿﻿Does things efficiently</a:t>
                      </a:r>
                      <a:endParaRPr lang="en-US" sz="2000" b="0" i="0" u="none" strike="noStrike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13667" marT="39360" marB="13120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914652"/>
                  </a:ext>
                </a:extLst>
              </a:tr>
              <a:tr h="485441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38. ﻿﻿﻿﻿Makes plans and follows through with them</a:t>
                      </a:r>
                      <a:endParaRPr lang="en-US" sz="2000" b="0" i="0" u="none" strike="noStrike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13667" marT="39360" marB="13120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6199942"/>
                  </a:ext>
                </a:extLst>
              </a:tr>
              <a:tr h="485441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43. Is easily distracted </a:t>
                      </a:r>
                      <a:r>
                        <a:rPr lang="en-US" sz="2000" dirty="0"/>
                        <a:t>(R)</a:t>
                      </a:r>
                      <a:endParaRPr lang="en-US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13667" marT="39360" marB="13120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022115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C9F860E-4C76-5DF7-E150-88BFB6C4EF11}"/>
              </a:ext>
            </a:extLst>
          </p:cNvPr>
          <p:cNvSpPr txBox="1"/>
          <p:nvPr/>
        </p:nvSpPr>
        <p:spPr>
          <a:xfrm>
            <a:off x="6558282" y="6144769"/>
            <a:ext cx="2103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John et al.,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1991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312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31850E-4C71-85CD-C356-54D05EBFF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D87AB319-64C0-4E2D-B1CD-0A970301B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DAFA9A5-03CC-4F94-B964-70682CDB0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5A693D-B90A-0809-506E-58A4F064B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28" y="770467"/>
            <a:ext cx="2600288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2600" dirty="0">
                <a:solidFill>
                  <a:srgbClr val="FFFFFF"/>
                </a:solidFill>
              </a:rPr>
              <a:t>BFI (Neuroticism)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3B36B60-731F-409B-A240-BBF521AB7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9292" y="0"/>
            <a:ext cx="566470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7CA6F554-B1DC-8B9F-8FFB-C2DB6E5881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0475131"/>
              </p:ext>
            </p:extLst>
          </p:nvPr>
        </p:nvGraphicFramePr>
        <p:xfrm>
          <a:off x="3961890" y="1345359"/>
          <a:ext cx="4699512" cy="3814968"/>
        </p:xfrm>
        <a:graphic>
          <a:graphicData uri="http://schemas.openxmlformats.org/drawingml/2006/table">
            <a:tbl>
              <a:tblPr>
                <a:noFill/>
                <a:tableStyleId>{5C22544A-7EE6-4342-B048-85BDC9FD1C3A}</a:tableStyleId>
              </a:tblPr>
              <a:tblGrid>
                <a:gridCol w="4699512">
                  <a:extLst>
                    <a:ext uri="{9D8B030D-6E8A-4147-A177-3AD203B41FA5}">
                      <a16:colId xmlns:a16="http://schemas.microsoft.com/office/drawing/2014/main" val="330225990"/>
                    </a:ext>
                  </a:extLst>
                </a:gridCol>
              </a:tblGrid>
              <a:tr h="4768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4. Is depressed, blue</a:t>
                      </a:r>
                      <a:endParaRPr lang="en-US" sz="2000" b="0" i="0" u="none" strike="noStrike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3306" marR="13306" marT="12773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3940752"/>
                  </a:ext>
                </a:extLst>
              </a:tr>
              <a:tr h="4768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9. Is relaxed, handles stress well </a:t>
                      </a:r>
                      <a:r>
                        <a:rPr lang="en-US" sz="2000" dirty="0"/>
                        <a:t>(R)</a:t>
                      </a:r>
                      <a:endParaRPr lang="en-US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3306" marR="13306" marT="12773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5312638"/>
                  </a:ext>
                </a:extLst>
              </a:tr>
              <a:tr h="4768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14. Can be tense</a:t>
                      </a:r>
                      <a:endParaRPr lang="en-US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3306" marR="13306" marT="12773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8731302"/>
                  </a:ext>
                </a:extLst>
              </a:tr>
              <a:tr h="4768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19. Worries a lot</a:t>
                      </a:r>
                      <a:endParaRPr lang="en-US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3306" marR="13306" marT="12773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5766354"/>
                  </a:ext>
                </a:extLst>
              </a:tr>
              <a:tr h="4768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24. ﻿﻿﻿﻿Is emotionally stable, not easily upset </a:t>
                      </a:r>
                      <a:r>
                        <a:rPr lang="en-US" sz="2000" dirty="0"/>
                        <a:t>(R)</a:t>
                      </a:r>
                      <a:endParaRPr lang="en-US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3306" marR="13306" marT="12773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4338738"/>
                  </a:ext>
                </a:extLst>
              </a:tr>
              <a:tr h="4768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29. Can be moody</a:t>
                      </a:r>
                      <a:endParaRPr lang="en-US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3306" marR="13306" marT="12773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425977"/>
                  </a:ext>
                </a:extLst>
              </a:tr>
              <a:tr h="476871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34. ﻿﻿﻿﻿Remains calm in tense situations </a:t>
                      </a:r>
                      <a:r>
                        <a:rPr lang="en-US" sz="2000" dirty="0"/>
                        <a:t>(R)</a:t>
                      </a:r>
                      <a:endParaRPr lang="en-US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3306" marR="13306" marT="127733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0564769"/>
                  </a:ext>
                </a:extLst>
              </a:tr>
              <a:tr h="476871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39. ﻿﻿﻿﻿Gets nervous easily</a:t>
                      </a:r>
                      <a:endParaRPr lang="en-US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3306" marR="13306" marT="127733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95538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6494A57-6C89-888F-2E0B-657C07E8743F}"/>
              </a:ext>
            </a:extLst>
          </p:cNvPr>
          <p:cNvSpPr txBox="1"/>
          <p:nvPr/>
        </p:nvSpPr>
        <p:spPr>
          <a:xfrm>
            <a:off x="6558282" y="6144769"/>
            <a:ext cx="2103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John et al.,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1991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825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C22924-A0BD-D25E-418E-CEF13B27D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87AB319-64C0-4E2D-B1CD-0A970301B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AFA9A5-03CC-4F94-B964-70682CDB0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CB8B2E-1D94-5D51-39BA-FE5FB99E1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28" y="770467"/>
            <a:ext cx="2600288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2600" dirty="0">
                <a:solidFill>
                  <a:srgbClr val="FFFFFF"/>
                </a:solidFill>
              </a:rPr>
              <a:t>BFI (Extraversion</a:t>
            </a:r>
            <a:r>
              <a:rPr lang="en-US" sz="2800" dirty="0">
                <a:solidFill>
                  <a:srgbClr val="FFFFFF"/>
                </a:solidFill>
              </a:rPr>
              <a:t>)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B36B60-731F-409B-A240-BBF521AB7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9292" y="0"/>
            <a:ext cx="566470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1FD9239-F50D-48C4-4FF3-7660B9F8BC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9675725"/>
              </p:ext>
            </p:extLst>
          </p:nvPr>
        </p:nvGraphicFramePr>
        <p:xfrm>
          <a:off x="3986229" y="629266"/>
          <a:ext cx="4650835" cy="5247152"/>
        </p:xfrm>
        <a:graphic>
          <a:graphicData uri="http://schemas.openxmlformats.org/drawingml/2006/table">
            <a:tbl>
              <a:tblPr>
                <a:noFill/>
                <a:tableStyleId>{5C22544A-7EE6-4342-B048-85BDC9FD1C3A}</a:tableStyleId>
              </a:tblPr>
              <a:tblGrid>
                <a:gridCol w="4650835">
                  <a:extLst>
                    <a:ext uri="{9D8B030D-6E8A-4147-A177-3AD203B41FA5}">
                      <a16:colId xmlns:a16="http://schemas.microsoft.com/office/drawing/2014/main" val="1453482462"/>
                    </a:ext>
                  </a:extLst>
                </a:gridCol>
              </a:tblGrid>
              <a:tr h="6558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1. Is talkative</a:t>
                      </a:r>
                      <a:endParaRPr lang="en-US" sz="2000" b="0" i="0" u="none" strike="noStrike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18465" marT="53181" marB="17726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9906468"/>
                  </a:ext>
                </a:extLst>
              </a:tr>
              <a:tr h="6558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6. Is reserved </a:t>
                      </a:r>
                      <a:r>
                        <a:rPr lang="en-US" sz="2000" dirty="0"/>
                        <a:t>(R)</a:t>
                      </a:r>
                      <a:endParaRPr lang="en-US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18465" marT="53181" marB="17726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9429585"/>
                  </a:ext>
                </a:extLst>
              </a:tr>
              <a:tr h="6558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11. Is full of energy</a:t>
                      </a:r>
                      <a:endParaRPr lang="en-US" sz="2000" b="0" i="0" u="none" strike="noStrike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18465" marT="53181" marB="17726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692333"/>
                  </a:ext>
                </a:extLst>
              </a:tr>
              <a:tr h="6558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16. Generates a lot of enthusiasm</a:t>
                      </a:r>
                      <a:endParaRPr lang="en-US" sz="2000" b="0" i="0" u="none" strike="noStrike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18465" marT="53181" marB="17726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6049797"/>
                  </a:ext>
                </a:extLst>
              </a:tr>
              <a:tr h="6558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21. Tends to be quiet </a:t>
                      </a:r>
                      <a:r>
                        <a:rPr lang="en-US" sz="2000" dirty="0"/>
                        <a:t>(R)</a:t>
                      </a:r>
                      <a:endParaRPr lang="en-US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18465" marT="53181" marB="17726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4761373"/>
                  </a:ext>
                </a:extLst>
              </a:tr>
              <a:tr h="655894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26. ﻿﻿﻿﻿Has an assertive personality</a:t>
                      </a:r>
                      <a:endParaRPr lang="en-US" sz="2000" b="0" i="0" u="none" strike="noStrike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18465" marT="53181" marB="17726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4652000"/>
                  </a:ext>
                </a:extLst>
              </a:tr>
              <a:tr h="655894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31. ﻿﻿﻿﻿Is sometimes shy, inhibited </a:t>
                      </a:r>
                      <a:r>
                        <a:rPr lang="en-US" sz="2000" dirty="0"/>
                        <a:t>(R)</a:t>
                      </a:r>
                      <a:endParaRPr lang="en-US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18465" marT="53181" marB="17726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5458239"/>
                  </a:ext>
                </a:extLst>
              </a:tr>
              <a:tr h="655894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36. ﻿﻿﻿﻿Is outgoing, sociable</a:t>
                      </a:r>
                      <a:endParaRPr lang="en-US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0" marR="18465" marT="53181" marB="17726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261763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DC3671A-1FBC-11A6-B2AE-0F6501538774}"/>
              </a:ext>
            </a:extLst>
          </p:cNvPr>
          <p:cNvSpPr txBox="1"/>
          <p:nvPr/>
        </p:nvSpPr>
        <p:spPr>
          <a:xfrm>
            <a:off x="6558282" y="6144769"/>
            <a:ext cx="2103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John et al.,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1991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105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896682-1746-63DA-03D9-CC843D9BD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D6F6937-3B5A-4391-9F37-58A571B36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31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248DF8-6702-E931-2A7D-B2B369934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18" y="936711"/>
            <a:ext cx="2241198" cy="498457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600" dirty="0">
                <a:solidFill>
                  <a:srgbClr val="FFFFFF"/>
                </a:solidFill>
              </a:rPr>
              <a:t>BFI (Agreeableness)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4811DB-DCE1-6097-0CA9-7892E029E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0791" y="936711"/>
            <a:ext cx="5111994" cy="498457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2. ﻿﻿﻿Tends to find fault with others (R)</a:t>
            </a:r>
          </a:p>
          <a:p>
            <a:r>
              <a:rPr lang="en-US" sz="2000" dirty="0"/>
              <a:t>7. Is helpful and unselfish with others </a:t>
            </a:r>
          </a:p>
          <a:p>
            <a:r>
              <a:rPr lang="en-US" sz="2000" dirty="0"/>
              <a:t>12. Starts quarrels with others (R)</a:t>
            </a:r>
          </a:p>
          <a:p>
            <a:r>
              <a:rPr lang="en-US" sz="2000" dirty="0"/>
              <a:t>﻿﻿17. Has a forgiving nature</a:t>
            </a:r>
          </a:p>
          <a:p>
            <a:r>
              <a:rPr lang="en-US" sz="2000" dirty="0"/>
              <a:t>22. Is generally trusting</a:t>
            </a:r>
          </a:p>
          <a:p>
            <a:r>
              <a:rPr lang="en-US" sz="2000" dirty="0"/>
              <a:t>27. Can be cold and aloof (R)</a:t>
            </a:r>
          </a:p>
          <a:p>
            <a:r>
              <a:rPr lang="en-US" sz="2000" dirty="0"/>
              <a:t>32. ﻿﻿﻿﻿Is considerate and kind to almost everyone</a:t>
            </a:r>
          </a:p>
          <a:p>
            <a:r>
              <a:rPr lang="en-US" sz="2000" dirty="0"/>
              <a:t>37. ﻿﻿﻿﻿Is sometimes rude to others (R)</a:t>
            </a:r>
          </a:p>
          <a:p>
            <a:r>
              <a:rPr lang="en-US" sz="2000" dirty="0"/>
              <a:t>42. ﻿﻿﻿﻿Likes to cooperate with others</a:t>
            </a:r>
          </a:p>
          <a:p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F4FFD1-2ECA-A814-3DF9-2243B1CABA64}"/>
              </a:ext>
            </a:extLst>
          </p:cNvPr>
          <p:cNvSpPr txBox="1"/>
          <p:nvPr/>
        </p:nvSpPr>
        <p:spPr>
          <a:xfrm>
            <a:off x="6558282" y="6144769"/>
            <a:ext cx="2103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John et al.,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1991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076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8D9B12-6EE9-64BE-73C2-229389684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D6F6937-3B5A-4391-9F37-58A571B36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31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AA65E4-41A9-AD5E-3857-6DB214798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18" y="936711"/>
            <a:ext cx="2241198" cy="498457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600" dirty="0">
                <a:solidFill>
                  <a:srgbClr val="FFFFFF"/>
                </a:solidFill>
              </a:rPr>
              <a:t>BFI (Openness)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A82D6F2-6148-E199-DDDC-BCA7BEB51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0791" y="936711"/>
            <a:ext cx="5111994" cy="498457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5. Is original, comes up with new ideas</a:t>
            </a:r>
          </a:p>
          <a:p>
            <a:r>
              <a:rPr lang="en-US" sz="2000" dirty="0"/>
              <a:t>10. Is curious about many different things</a:t>
            </a:r>
          </a:p>
          <a:p>
            <a:r>
              <a:rPr lang="en-US" sz="2000" dirty="0"/>
              <a:t>15. Is ingenious, a deep thinker</a:t>
            </a:r>
          </a:p>
          <a:p>
            <a:r>
              <a:rPr lang="en-US" sz="2000" dirty="0"/>
              <a:t>20. Has an active imagination</a:t>
            </a:r>
          </a:p>
          <a:p>
            <a:r>
              <a:rPr lang="en-US" sz="2000" dirty="0"/>
              <a:t>25. ﻿﻿﻿﻿Is inventive</a:t>
            </a:r>
          </a:p>
          <a:p>
            <a:r>
              <a:rPr lang="en-US" sz="2000" dirty="0"/>
              <a:t>30. ﻿﻿﻿﻿Values artistic, aesthetic experiences,</a:t>
            </a:r>
          </a:p>
          <a:p>
            <a:r>
              <a:rPr lang="en-US" sz="2000" dirty="0"/>
              <a:t>35. ﻿﻿﻿﻿Prefers work that is routine (R)</a:t>
            </a:r>
          </a:p>
          <a:p>
            <a:r>
              <a:rPr lang="en-US" sz="2000" dirty="0"/>
              <a:t>40. ﻿﻿﻿﻿Likes to reflect, play with ideas</a:t>
            </a:r>
          </a:p>
          <a:p>
            <a:r>
              <a:rPr lang="en-US" sz="2000" dirty="0"/>
              <a:t>41. ﻿﻿﻿﻿Has few artistic interests (R)</a:t>
            </a:r>
          </a:p>
          <a:p>
            <a:r>
              <a:rPr lang="en-US" sz="2000" dirty="0"/>
              <a:t>44. Is sophisticated in art, music, or literature</a:t>
            </a:r>
          </a:p>
          <a:p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CE754A-94F2-A9CA-2D98-BE929E4E8AE7}"/>
              </a:ext>
            </a:extLst>
          </p:cNvPr>
          <p:cNvSpPr txBox="1"/>
          <p:nvPr/>
        </p:nvSpPr>
        <p:spPr>
          <a:xfrm>
            <a:off x="6558282" y="6144769"/>
            <a:ext cx="2103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John et al.,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1991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623905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5163</TotalTime>
  <Words>387</Words>
  <Application>Microsoft Office PowerPoint</Application>
  <PresentationFormat>On-screen Show (4:3)</PresentationFormat>
  <Paragraphs>54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quote-cjk-patch</vt:lpstr>
      <vt:lpstr>Aptos</vt:lpstr>
      <vt:lpstr>Arial</vt:lpstr>
      <vt:lpstr>Calibri Light</vt:lpstr>
      <vt:lpstr>Times New Roman</vt:lpstr>
      <vt:lpstr>Metropolitan</vt:lpstr>
      <vt:lpstr>BFI (Conscientiousness) </vt:lpstr>
      <vt:lpstr>BFI (Neuroticism) </vt:lpstr>
      <vt:lpstr>BFI (Extraversion) </vt:lpstr>
      <vt:lpstr>BFI (Agreeableness) </vt:lpstr>
      <vt:lpstr>BFI (Openness)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Vivian Wong</dc:creator>
  <cp:keywords/>
  <dc:description>generated using python-pptx</dc:description>
  <cp:lastModifiedBy>Vivian Wong</cp:lastModifiedBy>
  <cp:revision>11</cp:revision>
  <dcterms:created xsi:type="dcterms:W3CDTF">2013-01-27T09:14:16Z</dcterms:created>
  <dcterms:modified xsi:type="dcterms:W3CDTF">2025-11-05T13:28:49Z</dcterms:modified>
  <cp:category/>
</cp:coreProperties>
</file>